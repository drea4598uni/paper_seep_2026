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2433"/>
    <a:srgbClr val="E0D0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641" y="1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7727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magine 30">
            <a:extLst>
              <a:ext uri="{FF2B5EF4-FFF2-40B4-BE49-F238E27FC236}">
                <a16:creationId xmlns:a16="http://schemas.microsoft.com/office/drawing/2014/main" id="{BB8BEBAD-03E2-1C0F-578B-0EAAC02288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5" t="1427" r="7853"/>
          <a:stretch>
            <a:fillRect/>
          </a:stretch>
        </p:blipFill>
        <p:spPr>
          <a:xfrm flipH="1">
            <a:off x="6668682" y="259882"/>
            <a:ext cx="5523318" cy="6531900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C2C76753-B9C9-B940-A676-A83E431930A9}"/>
              </a:ext>
            </a:extLst>
          </p:cNvPr>
          <p:cNvSpPr txBox="1"/>
          <p:nvPr userDrawn="1"/>
        </p:nvSpPr>
        <p:spPr>
          <a:xfrm>
            <a:off x="344423" y="427841"/>
            <a:ext cx="9102223" cy="2554545"/>
          </a:xfrm>
          <a:prstGeom prst="rect">
            <a:avLst/>
          </a:prstGeom>
          <a:noFill/>
          <a:effectLst>
            <a:outerShdw blurRad="50800" dist="50800" dir="5400000" sx="30000" sy="3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822433"/>
                </a:solidFill>
                <a:latin typeface="Georgia" panose="02040502050405020303" pitchFamily="18" charset="0"/>
              </a:rPr>
              <a:t> Machine-Learned Eddy Viscosity Correction for High-Fidelity Wake Prediction in RANS-Actuator Line Wind Farm Simulations</a:t>
            </a:r>
            <a:endParaRPr lang="en-GB" sz="4000" dirty="0">
              <a:solidFill>
                <a:srgbClr val="822433"/>
              </a:solidFill>
              <a:latin typeface="Georgia" panose="02040502050405020303" pitchFamily="18" charset="0"/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6004C250-AD21-0C88-706F-A718C46B4AB8}"/>
              </a:ext>
            </a:extLst>
          </p:cNvPr>
          <p:cNvSpPr/>
          <p:nvPr userDrawn="1"/>
        </p:nvSpPr>
        <p:spPr>
          <a:xfrm>
            <a:off x="0" y="0"/>
            <a:ext cx="8979408" cy="259882"/>
          </a:xfrm>
          <a:prstGeom prst="rect">
            <a:avLst/>
          </a:prstGeom>
          <a:gradFill>
            <a:gsLst>
              <a:gs pos="75000">
                <a:srgbClr val="822433"/>
              </a:gs>
              <a:gs pos="100000">
                <a:srgbClr val="E0D0C1"/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DFE35CE1-1DF0-1B45-922D-D68B20774A77}"/>
              </a:ext>
            </a:extLst>
          </p:cNvPr>
          <p:cNvSpPr/>
          <p:nvPr userDrawn="1"/>
        </p:nvSpPr>
        <p:spPr>
          <a:xfrm rot="10800000" flipV="1">
            <a:off x="8979408" y="0"/>
            <a:ext cx="3212592" cy="259882"/>
          </a:xfrm>
          <a:prstGeom prst="rect">
            <a:avLst/>
          </a:prstGeom>
          <a:solidFill>
            <a:srgbClr val="E0D0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Lato" panose="020F0502020204030203" pitchFamily="34" charset="0"/>
              </a:rPr>
              <a:t>SEEP 2026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81451B8-D16F-7A5D-2B9C-F1ED50FC0B97}"/>
              </a:ext>
            </a:extLst>
          </p:cNvPr>
          <p:cNvSpPr txBox="1"/>
          <p:nvPr userDrawn="1"/>
        </p:nvSpPr>
        <p:spPr>
          <a:xfrm>
            <a:off x="344423" y="3429000"/>
            <a:ext cx="403298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u="sng" dirty="0">
                <a:solidFill>
                  <a:srgbClr val="82243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Andrea Carloni</a:t>
            </a:r>
          </a:p>
          <a:p>
            <a:r>
              <a:rPr lang="en-GB" sz="2000" dirty="0">
                <a:solidFill>
                  <a:srgbClr val="8224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PhD Student</a:t>
            </a:r>
          </a:p>
          <a:p>
            <a:r>
              <a:rPr lang="en-GB" sz="2000" dirty="0">
                <a:solidFill>
                  <a:srgbClr val="8224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Sapienza University of Rome</a:t>
            </a:r>
          </a:p>
          <a:p>
            <a:endParaRPr lang="en-GB" sz="2000" dirty="0">
              <a:solidFill>
                <a:srgbClr val="822433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GB" sz="2000" dirty="0">
                <a:solidFill>
                  <a:srgbClr val="8224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Giovanni </a:t>
            </a:r>
            <a:r>
              <a:rPr lang="en-GB" sz="2000" dirty="0" err="1">
                <a:solidFill>
                  <a:srgbClr val="8224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Delibra</a:t>
            </a:r>
            <a:endParaRPr lang="en-GB" sz="2000" dirty="0">
              <a:solidFill>
                <a:srgbClr val="822433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GB" sz="2000" dirty="0">
                <a:solidFill>
                  <a:srgbClr val="8224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Lorenzo </a:t>
            </a:r>
            <a:r>
              <a:rPr lang="en-GB" sz="2000" dirty="0" err="1">
                <a:solidFill>
                  <a:srgbClr val="8224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Tieghi</a:t>
            </a:r>
            <a:endParaRPr lang="en-GB" sz="2000" dirty="0">
              <a:solidFill>
                <a:srgbClr val="822433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GB" sz="2000" dirty="0">
                <a:solidFill>
                  <a:srgbClr val="8224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Filippo De Girolamo</a:t>
            </a:r>
          </a:p>
          <a:p>
            <a:r>
              <a:rPr lang="en-GB" sz="2000" dirty="0">
                <a:solidFill>
                  <a:srgbClr val="8224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Valerio Francesco Barnabei</a:t>
            </a:r>
          </a:p>
          <a:p>
            <a:r>
              <a:rPr lang="en-GB" sz="2000" dirty="0">
                <a:solidFill>
                  <a:srgbClr val="8224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Alessandro Corsini</a:t>
            </a:r>
          </a:p>
        </p:txBody>
      </p:sp>
      <p:grpSp>
        <p:nvGrpSpPr>
          <p:cNvPr id="23" name="Gruppo 22">
            <a:extLst>
              <a:ext uri="{FF2B5EF4-FFF2-40B4-BE49-F238E27FC236}">
                <a16:creationId xmlns:a16="http://schemas.microsoft.com/office/drawing/2014/main" id="{94DC805E-CC49-FFDE-0C0F-6D2971F46CB1}"/>
              </a:ext>
            </a:extLst>
          </p:cNvPr>
          <p:cNvGrpSpPr/>
          <p:nvPr userDrawn="1"/>
        </p:nvGrpSpPr>
        <p:grpSpPr>
          <a:xfrm>
            <a:off x="4675792" y="5807095"/>
            <a:ext cx="2978848" cy="953010"/>
            <a:chOff x="4290782" y="5845541"/>
            <a:chExt cx="2978848" cy="953010"/>
          </a:xfrm>
        </p:grpSpPr>
        <p:pic>
          <p:nvPicPr>
            <p:cNvPr id="15" name="Immagine 14" descr="File:Uniroma1.svg - Wikipedia">
              <a:extLst>
                <a:ext uri="{FF2B5EF4-FFF2-40B4-BE49-F238E27FC236}">
                  <a16:creationId xmlns:a16="http://schemas.microsoft.com/office/drawing/2014/main" id="{2C9168CD-CF9E-FB58-6C9E-D7A7B72F2C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rcRect r="74425"/>
            <a:stretch>
              <a:fillRect/>
            </a:stretch>
          </p:blipFill>
          <p:spPr>
            <a:xfrm>
              <a:off x="4290782" y="5845541"/>
              <a:ext cx="811731" cy="953010"/>
            </a:xfrm>
            <a:prstGeom prst="rect">
              <a:avLst/>
            </a:prstGeom>
          </p:spPr>
        </p:pic>
        <p:pic>
          <p:nvPicPr>
            <p:cNvPr id="20" name="Elemento grafico 19">
              <a:extLst>
                <a:ext uri="{FF2B5EF4-FFF2-40B4-BE49-F238E27FC236}">
                  <a16:creationId xmlns:a16="http://schemas.microsoft.com/office/drawing/2014/main" id="{D130ED83-C766-9430-80A4-1D1B060D370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84268" y="5845541"/>
              <a:ext cx="850597" cy="953010"/>
            </a:xfrm>
            <a:prstGeom prst="rect">
              <a:avLst/>
            </a:prstGeom>
          </p:spPr>
        </p:pic>
        <p:pic>
          <p:nvPicPr>
            <p:cNvPr id="22" name="Elemento grafico 21">
              <a:extLst>
                <a:ext uri="{FF2B5EF4-FFF2-40B4-BE49-F238E27FC236}">
                  <a16:creationId xmlns:a16="http://schemas.microsoft.com/office/drawing/2014/main" id="{33BEEF63-0E44-1D3E-5241-FE628D20F3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16620" y="5845541"/>
              <a:ext cx="953010" cy="953010"/>
            </a:xfrm>
            <a:prstGeom prst="rect">
              <a:avLst/>
            </a:prstGeom>
          </p:spPr>
        </p:pic>
      </p:grpSp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E3B350A2-4C80-58AC-B3BB-CDF93F5E23C5}"/>
              </a:ext>
            </a:extLst>
          </p:cNvPr>
          <p:cNvCxnSpPr>
            <a:cxnSpLocks/>
          </p:cNvCxnSpPr>
          <p:nvPr userDrawn="1"/>
        </p:nvCxnSpPr>
        <p:spPr>
          <a:xfrm>
            <a:off x="344424" y="288760"/>
            <a:ext cx="0" cy="6256419"/>
          </a:xfrm>
          <a:prstGeom prst="line">
            <a:avLst/>
          </a:prstGeom>
          <a:ln>
            <a:solidFill>
              <a:srgbClr val="82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4996FB24-280F-8A30-074B-70A4EFF9773D}"/>
              </a:ext>
            </a:extLst>
          </p:cNvPr>
          <p:cNvCxnSpPr>
            <a:cxnSpLocks/>
          </p:cNvCxnSpPr>
          <p:nvPr userDrawn="1"/>
        </p:nvCxnSpPr>
        <p:spPr>
          <a:xfrm>
            <a:off x="202130" y="423514"/>
            <a:ext cx="9244524" cy="0"/>
          </a:xfrm>
          <a:prstGeom prst="line">
            <a:avLst/>
          </a:prstGeom>
          <a:ln>
            <a:solidFill>
              <a:srgbClr val="82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162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0067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6" baseType="lpstr">
      <vt:lpstr>Aptos</vt:lpstr>
      <vt:lpstr>Arial</vt:lpstr>
      <vt:lpstr>Georgia</vt:lpstr>
      <vt:lpstr>Verdana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Carloni</dc:creator>
  <cp:lastModifiedBy>Andrea Carloni</cp:lastModifiedBy>
  <cp:revision>1</cp:revision>
  <dcterms:created xsi:type="dcterms:W3CDTF">2026-07-01T15:00:34Z</dcterms:created>
  <dcterms:modified xsi:type="dcterms:W3CDTF">2026-07-01T15:35:19Z</dcterms:modified>
</cp:coreProperties>
</file>