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03" autoAdjust="0"/>
    <p:restoredTop sz="94660"/>
  </p:normalViewPr>
  <p:slideViewPr>
    <p:cSldViewPr snapToGrid="0">
      <p:cViewPr>
        <p:scale>
          <a:sx n="66" d="100"/>
          <a:sy n="66" d="100"/>
        </p:scale>
        <p:origin x="2261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655456-48B6-A79E-B634-1C58729F2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4822972-F94E-FCD4-FE11-26BFBD58F3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DC70BA-5B6E-2DAC-69A4-F478E40B0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E512-7262-4267-856E-8667B307D9A3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0B85CA-4CE3-FD77-3289-FE2ADD68D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6A45ACB-28D1-0084-3E6D-2DF97E398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AD850-36D6-4A89-9127-F34C73BAB18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094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3E6E11-2A9B-8017-639A-6B99A676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946A60-306D-567A-BCD9-35B60588F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917139-EF47-6A49-1F89-ABCE2D58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E512-7262-4267-856E-8667B307D9A3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CC8BAC-087E-7394-B2AD-878952187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4EF2EC1-3DCB-8F24-E1B1-1669CD89A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AD850-36D6-4A89-9127-F34C73BAB18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55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EA0198-23DD-76ED-6AAA-8B295FFFA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077D1C2-1C5A-6608-8986-799F90691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4137B43-9A3A-8621-A712-68ED79163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E512-7262-4267-856E-8667B307D9A3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1F2B052-5200-A1CA-1B7B-C38E94203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A6C08E-2890-72E1-A0F2-E7021683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AD850-36D6-4A89-9127-F34C73BAB18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0797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435D75-2FFC-C1F5-12CB-EEC6FACA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87C706-7E47-8A4F-D632-D96CECFDE7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AE963E1-DDF1-551F-2D21-E6706B867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C69DF9E-5871-48DD-0F16-222ABFFE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E512-7262-4267-856E-8667B307D9A3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149AB0E-7FA0-21E7-722D-EE1372E8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61E5D57-3C79-677C-F8AA-A6479FA8A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AD850-36D6-4A89-9127-F34C73BAB18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4127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2936E0-EB7A-09BC-22CE-9260161E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B5442-255B-319C-4EDF-D4C90DE0B6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44422EB-C5A7-04B6-2763-105FF18E7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B7FE680-6E45-C45C-7C9A-524DBE3E4C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B236B38-630C-6782-654C-E02A7B1FF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87E0627-26FC-2607-7E23-4D2051E05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E512-7262-4267-856E-8667B307D9A3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72C4995-9EB6-E474-A865-7AF490E6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518F35DF-8428-E5C9-E0FA-00D01C676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AD850-36D6-4A89-9127-F34C73BAB18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773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7C7DE7-E542-A75A-8398-3BEEE4872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1757F02-4AA4-CE45-D410-1A6116722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E512-7262-4267-856E-8667B307D9A3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7C9320-AAA5-35A4-C39F-BD661B340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7659836-32CF-1C2A-6433-54A33B508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AD850-36D6-4A89-9127-F34C73BAB18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19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41E192F-058C-9D11-9DA4-8905CD64C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E512-7262-4267-856E-8667B307D9A3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D90B783-3E23-D097-86BB-D55AA02E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13CAB37-AC89-4EB6-0C98-9466DA036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AD850-36D6-4A89-9127-F34C73BAB18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63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CE5D52-93F1-FE4E-CD1C-12E51C45C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2913D3-2082-D521-74E9-08068BE7C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11C5CD3-1DD1-C548-CA56-5CBDC4167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20C56D0-8895-444C-BC08-D1554D083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E512-7262-4267-856E-8667B307D9A3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4B9A5FD-CF64-A669-870F-C53AF5C3E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E345D63-56A7-F423-C6B2-B3760AE95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AD850-36D6-4A89-9127-F34C73BAB18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04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A0770C-E021-EA38-A5AC-C0C469B09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732D704-62F0-FE09-A96F-ED6785857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96877A-E630-66AC-87A7-B3B633945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4E9D5BA-4306-E1B4-23B6-A69EAF6B2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E512-7262-4267-856E-8667B307D9A3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C147BAC-67D2-25A8-1165-7733C7222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89CE82A-34BE-CCDC-D2D3-110C2055C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AD850-36D6-4A89-9127-F34C73BAB18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1488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892373-5F8D-B144-0E86-17C68A2B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3312890-E711-6C18-092D-093D7B891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F504669-FAE9-7933-8489-BDB5FDCCD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E512-7262-4267-856E-8667B307D9A3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966A06-7F47-DE71-60DC-C60B251DA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9F8C329-5D55-9B71-A4BA-58A912D20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AD850-36D6-4A89-9127-F34C73BAB18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5761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72E2E9A-C781-F28D-EC15-A03B531F7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C2CFFF6-4ED6-288E-34F9-3966220AE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221BC7-4E15-9F51-BD9E-5C289398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4E512-7262-4267-856E-8667B307D9A3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CF2D10-39E5-C3B2-C250-D1B9B116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3583593-FE9F-F70D-3658-8BDE8496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2AD850-36D6-4A89-9127-F34C73BAB18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8678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F9D7E09-2742-D4F2-0630-B2D428903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FC4F69F-1A93-EFB1-9758-65FC44C8C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F250647-B029-51E9-F288-0C975EB11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E512-7262-4267-856E-8667B307D9A3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667414-9157-C7EF-D965-1CDDBB37E4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87F9EB-0BE4-FEE4-C463-C1CEC4591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AD850-36D6-4A89-9127-F34C73BAB18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07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o 3">
            <a:extLst>
              <a:ext uri="{FF2B5EF4-FFF2-40B4-BE49-F238E27FC236}">
                <a16:creationId xmlns:a16="http://schemas.microsoft.com/office/drawing/2014/main" id="{DF2AFDEA-3A98-ACF2-EEEC-5BF4D53B4907}"/>
              </a:ext>
            </a:extLst>
          </p:cNvPr>
          <p:cNvGrpSpPr>
            <a:grpSpLocks noChangeAspect="1"/>
          </p:cNvGrpSpPr>
          <p:nvPr/>
        </p:nvGrpSpPr>
        <p:grpSpPr>
          <a:xfrm>
            <a:off x="165237" y="1503680"/>
            <a:ext cx="11861526" cy="2361006"/>
            <a:chOff x="2598665" y="20915722"/>
            <a:chExt cx="21473869" cy="4274318"/>
          </a:xfrm>
        </p:grpSpPr>
        <p:sp>
          <p:nvSpPr>
            <p:cNvPr id="5" name="Rettangolo con angoli arrotondati 4">
              <a:extLst>
                <a:ext uri="{FF2B5EF4-FFF2-40B4-BE49-F238E27FC236}">
                  <a16:creationId xmlns:a16="http://schemas.microsoft.com/office/drawing/2014/main" id="{179CAA9C-1EDD-A591-C565-997197130C54}"/>
                </a:ext>
              </a:extLst>
            </p:cNvPr>
            <p:cNvSpPr/>
            <p:nvPr/>
          </p:nvSpPr>
          <p:spPr>
            <a:xfrm>
              <a:off x="2598665" y="21005737"/>
              <a:ext cx="1769314" cy="937060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RANS Simulation</a:t>
              </a:r>
            </a:p>
          </p:txBody>
        </p:sp>
        <p:grpSp>
          <p:nvGrpSpPr>
            <p:cNvPr id="6" name="Gruppo 5">
              <a:extLst>
                <a:ext uri="{FF2B5EF4-FFF2-40B4-BE49-F238E27FC236}">
                  <a16:creationId xmlns:a16="http://schemas.microsoft.com/office/drawing/2014/main" id="{4BAEB417-06E6-5181-7A08-AE9796F26FC9}"/>
                </a:ext>
              </a:extLst>
            </p:cNvPr>
            <p:cNvGrpSpPr/>
            <p:nvPr/>
          </p:nvGrpSpPr>
          <p:grpSpPr>
            <a:xfrm>
              <a:off x="4999628" y="21005046"/>
              <a:ext cx="3021280" cy="4184994"/>
              <a:chOff x="5422900" y="17447479"/>
              <a:chExt cx="3597680" cy="418499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Rettangolo con angoli arrotondati 65">
                    <a:extLst>
                      <a:ext uri="{FF2B5EF4-FFF2-40B4-BE49-F238E27FC236}">
                        <a16:creationId xmlns:a16="http://schemas.microsoft.com/office/drawing/2014/main" id="{AC54A65E-FFEC-175F-F0C0-D1C0087CC51F}"/>
                      </a:ext>
                    </a:extLst>
                  </p:cNvPr>
                  <p:cNvSpPr/>
                  <p:nvPr/>
                </p:nvSpPr>
                <p:spPr>
                  <a:xfrm>
                    <a:off x="6135600" y="18567228"/>
                    <a:ext cx="2170066" cy="1181271"/>
                  </a:xfrm>
                  <a:prstGeom prst="roundRect">
                    <a:avLst/>
                  </a:prstGeom>
                  <a:no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GB" sz="100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it-IT" sz="10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00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it-IT" sz="10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𝐿𝐸𝑆</m:t>
                                </m:r>
                                <m:r>
                                  <a:rPr lang="it-IT" sz="10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it-IT" sz="1000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𝑚𝑒𝑎𝑛</m:t>
                                </m:r>
                              </m:sub>
                            </m:sSub>
                          </m:e>
                        </m:acc>
                      </m:oMath>
                    </a14:m>
                    <a:r>
                      <a:rPr lang="en-GB" sz="1000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and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it-IT" sz="10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it-IT" sz="10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sz="10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𝐿𝐸𝑆</m:t>
                            </m:r>
                            <m:r>
                              <a:rPr lang="it-IT" sz="10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 </m:t>
                            </m:r>
                            <m:r>
                              <a:rPr lang="it-IT" sz="1000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𝑚𝑒𝑎𝑛</m:t>
                            </m:r>
                          </m:sub>
                        </m:sSub>
                      </m:oMath>
                    </a14:m>
                    <a:endParaRPr lang="en-GB" sz="1000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6" name="Rettangolo con angoli arrotondati 65">
                    <a:extLst>
                      <a:ext uri="{FF2B5EF4-FFF2-40B4-BE49-F238E27FC236}">
                        <a16:creationId xmlns:a16="http://schemas.microsoft.com/office/drawing/2014/main" id="{AC54A65E-FFEC-175F-F0C0-D1C0087CC51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135600" y="18567228"/>
                    <a:ext cx="2170066" cy="1181271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381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7" name="Rettangolo con angoli arrotondati 66">
                <a:extLst>
                  <a:ext uri="{FF2B5EF4-FFF2-40B4-BE49-F238E27FC236}">
                    <a16:creationId xmlns:a16="http://schemas.microsoft.com/office/drawing/2014/main" id="{69931BA6-7A8B-DBCC-DF44-DBAF3B1C334C}"/>
                  </a:ext>
                </a:extLst>
              </p:cNvPr>
              <p:cNvSpPr/>
              <p:nvPr/>
            </p:nvSpPr>
            <p:spPr>
              <a:xfrm>
                <a:off x="5944153" y="20205066"/>
                <a:ext cx="2555178" cy="937060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0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Transport and turbulence calculation</a:t>
                </a:r>
              </a:p>
            </p:txBody>
          </p:sp>
          <p:sp>
            <p:nvSpPr>
              <p:cNvPr id="68" name="Rettangolo con angoli arrotondati 67">
                <a:extLst>
                  <a:ext uri="{FF2B5EF4-FFF2-40B4-BE49-F238E27FC236}">
                    <a16:creationId xmlns:a16="http://schemas.microsoft.com/office/drawing/2014/main" id="{F913A55A-86EE-C9F1-3CF4-E7CBD9D00AA4}"/>
                  </a:ext>
                </a:extLst>
              </p:cNvPr>
              <p:cNvSpPr/>
              <p:nvPr/>
            </p:nvSpPr>
            <p:spPr>
              <a:xfrm>
                <a:off x="5422900" y="17447479"/>
                <a:ext cx="3597680" cy="4184994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GB" sz="1000" u="sng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SIMPLE solver</a:t>
                </a:r>
              </a:p>
            </p:txBody>
          </p:sp>
        </p:grpSp>
        <p:cxnSp>
          <p:nvCxnSpPr>
            <p:cNvPr id="7" name="Connettore 2 6">
              <a:extLst>
                <a:ext uri="{FF2B5EF4-FFF2-40B4-BE49-F238E27FC236}">
                  <a16:creationId xmlns:a16="http://schemas.microsoft.com/office/drawing/2014/main" id="{FA61FC5A-127D-37DF-E1BB-69D760CB2115}"/>
                </a:ext>
              </a:extLst>
            </p:cNvPr>
            <p:cNvCxnSpPr>
              <a:cxnSpLocks/>
              <a:stCxn id="5" idx="3"/>
            </p:cNvCxnSpPr>
            <p:nvPr/>
          </p:nvCxnSpPr>
          <p:spPr>
            <a:xfrm>
              <a:off x="4367979" y="21474267"/>
              <a:ext cx="63143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Rettangolo con angoli arrotondati 7">
              <a:extLst>
                <a:ext uri="{FF2B5EF4-FFF2-40B4-BE49-F238E27FC236}">
                  <a16:creationId xmlns:a16="http://schemas.microsoft.com/office/drawing/2014/main" id="{8E3EFBB2-7EA5-5596-1B38-BEE9B21351A3}"/>
                </a:ext>
              </a:extLst>
            </p:cNvPr>
            <p:cNvSpPr/>
            <p:nvPr/>
          </p:nvSpPr>
          <p:spPr>
            <a:xfrm>
              <a:off x="2598665" y="22242002"/>
              <a:ext cx="1769314" cy="937060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LES Simulation</a:t>
              </a:r>
              <a:endParaRPr lang="en-GB" sz="1000" noProof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9" name="Connettore 2 8">
              <a:extLst>
                <a:ext uri="{FF2B5EF4-FFF2-40B4-BE49-F238E27FC236}">
                  <a16:creationId xmlns:a16="http://schemas.microsoft.com/office/drawing/2014/main" id="{9D36541F-1394-C12B-6A47-3BA134ACDE23}"/>
                </a:ext>
              </a:extLst>
            </p:cNvPr>
            <p:cNvCxnSpPr>
              <a:cxnSpLocks/>
              <a:stCxn id="8" idx="3"/>
              <a:endCxn id="66" idx="1"/>
            </p:cNvCxnSpPr>
            <p:nvPr/>
          </p:nvCxnSpPr>
          <p:spPr>
            <a:xfrm>
              <a:off x="4367979" y="22710532"/>
              <a:ext cx="1230164" cy="49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nettore 2 9">
              <a:extLst>
                <a:ext uri="{FF2B5EF4-FFF2-40B4-BE49-F238E27FC236}">
                  <a16:creationId xmlns:a16="http://schemas.microsoft.com/office/drawing/2014/main" id="{53CB7150-1751-131A-1107-9F96A76ADFC8}"/>
                </a:ext>
              </a:extLst>
            </p:cNvPr>
            <p:cNvCxnSpPr>
              <a:cxnSpLocks/>
              <a:stCxn id="66" idx="2"/>
              <a:endCxn id="67" idx="0"/>
            </p:cNvCxnSpPr>
            <p:nvPr/>
          </p:nvCxnSpPr>
          <p:spPr>
            <a:xfrm>
              <a:off x="6509337" y="23306067"/>
              <a:ext cx="933" cy="456566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ttangolo con angoli arrotondati 10">
                  <a:extLst>
                    <a:ext uri="{FF2B5EF4-FFF2-40B4-BE49-F238E27FC236}">
                      <a16:creationId xmlns:a16="http://schemas.microsoft.com/office/drawing/2014/main" id="{DD227A2B-7F96-79F8-3C23-5F1DD3B04AE5}"/>
                    </a:ext>
                  </a:extLst>
                </p:cNvPr>
                <p:cNvSpPr/>
                <p:nvPr/>
              </p:nvSpPr>
              <p:spPr>
                <a:xfrm>
                  <a:off x="8652557" y="20915722"/>
                  <a:ext cx="3021280" cy="1108646"/>
                </a:xfrm>
                <a:prstGeom prst="roundRect">
                  <a:avLst/>
                </a:prstGeom>
                <a:noFill/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10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0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0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GB" sz="10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𝑐𝑎𝑟𝑡</m:t>
                              </m:r>
                            </m:sub>
                          </m:sSub>
                        </m:e>
                      </m:acc>
                    </m:oMath>
                  </a14:m>
                  <a:r>
                    <a:rPr lang="en-GB" sz="1000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GB" sz="1000" i="1" noProof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𝑝</m:t>
                      </m:r>
                    </m:oMath>
                  </a14:m>
                  <a:r>
                    <a:rPr lang="en-GB" sz="1000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GB" sz="1000" i="1" noProof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𝑘</m:t>
                      </m:r>
                    </m:oMath>
                  </a14:m>
                  <a:r>
                    <a:rPr lang="en-GB" sz="1000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GB" sz="100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𝜔</m:t>
                      </m:r>
                    </m:oMath>
                  </a14:m>
                  <a:r>
                    <a:rPr lang="en-GB" sz="1000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sz="1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</m:ctrlPr>
                        </m:sSubPr>
                        <m:e>
                          <m:r>
                            <a:rPr lang="it-IT" sz="1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𝜈</m:t>
                          </m:r>
                        </m:e>
                        <m:sub>
                          <m:r>
                            <a:rPr lang="it-IT" sz="1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𝑡</m:t>
                          </m:r>
                          <m:r>
                            <a:rPr lang="it-IT" sz="1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,</m:t>
                          </m:r>
                          <m:r>
                            <a:rPr lang="it-IT" sz="1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Segoe UI" panose="020B0502040204020203" pitchFamily="34" charset="0"/>
                            </a:rPr>
                            <m:t>𝑚𝑜𝑑</m:t>
                          </m:r>
                        </m:sub>
                      </m:sSub>
                    </m:oMath>
                  </a14:m>
                  <a:endParaRPr lang="en-GB" sz="10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1" name="Rettangolo con angoli arrotondati 10">
                  <a:extLst>
                    <a:ext uri="{FF2B5EF4-FFF2-40B4-BE49-F238E27FC236}">
                      <a16:creationId xmlns:a16="http://schemas.microsoft.com/office/drawing/2014/main" id="{DD227A2B-7F96-79F8-3C23-5F1DD3B04A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2557" y="20915722"/>
                  <a:ext cx="3021280" cy="110864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nettore 2 11">
              <a:extLst>
                <a:ext uri="{FF2B5EF4-FFF2-40B4-BE49-F238E27FC236}">
                  <a16:creationId xmlns:a16="http://schemas.microsoft.com/office/drawing/2014/main" id="{8EBA0908-31E1-5665-5A35-FF785ECDF2DA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>
              <a:off x="8016737" y="21470045"/>
              <a:ext cx="63582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C4B36E3C-9DCB-BD63-FCF7-93A08971FA20}"/>
                </a:ext>
              </a:extLst>
            </p:cNvPr>
            <p:cNvGrpSpPr/>
            <p:nvPr/>
          </p:nvGrpSpPr>
          <p:grpSpPr>
            <a:xfrm>
              <a:off x="12335327" y="21005051"/>
              <a:ext cx="3471409" cy="4184983"/>
              <a:chOff x="12382500" y="17447478"/>
              <a:chExt cx="3021280" cy="4184983"/>
            </a:xfrm>
          </p:grpSpPr>
          <p:sp>
            <p:nvSpPr>
              <p:cNvPr id="63" name="Rettangolo con angoli arrotondati 62">
                <a:extLst>
                  <a:ext uri="{FF2B5EF4-FFF2-40B4-BE49-F238E27FC236}">
                    <a16:creationId xmlns:a16="http://schemas.microsoft.com/office/drawing/2014/main" id="{57A6013F-FBFE-73F3-30F9-F8CD46E70253}"/>
                  </a:ext>
                </a:extLst>
              </p:cNvPr>
              <p:cNvSpPr/>
              <p:nvPr/>
            </p:nvSpPr>
            <p:spPr>
              <a:xfrm>
                <a:off x="12382500" y="17447478"/>
                <a:ext cx="3021280" cy="4184983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GB" sz="1000" u="sng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Dataset pre-processing and features selection</a:t>
                </a:r>
              </a:p>
            </p:txBody>
          </p:sp>
          <p:sp>
            <p:nvSpPr>
              <p:cNvPr id="64" name="Rettangolo con angoli arrotondati 63">
                <a:extLst>
                  <a:ext uri="{FF2B5EF4-FFF2-40B4-BE49-F238E27FC236}">
                    <a16:creationId xmlns:a16="http://schemas.microsoft.com/office/drawing/2014/main" id="{43B733AF-1E33-6934-7BB8-A3261925437B}"/>
                  </a:ext>
                </a:extLst>
              </p:cNvPr>
              <p:cNvSpPr/>
              <p:nvPr/>
            </p:nvSpPr>
            <p:spPr>
              <a:xfrm>
                <a:off x="12909137" y="18393145"/>
                <a:ext cx="1968006" cy="1162051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0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Cylindrical coordinates projection</a:t>
                </a:r>
              </a:p>
            </p:txBody>
          </p:sp>
          <p:sp>
            <p:nvSpPr>
              <p:cNvPr id="65" name="Rettangolo con angoli arrotondati 64">
                <a:extLst>
                  <a:ext uri="{FF2B5EF4-FFF2-40B4-BE49-F238E27FC236}">
                    <a16:creationId xmlns:a16="http://schemas.microsoft.com/office/drawing/2014/main" id="{011CC029-4BCF-36C4-7146-B0DB3588888B}"/>
                  </a:ext>
                </a:extLst>
              </p:cNvPr>
              <p:cNvSpPr/>
              <p:nvPr/>
            </p:nvSpPr>
            <p:spPr>
              <a:xfrm>
                <a:off x="12673477" y="20554914"/>
                <a:ext cx="2439328" cy="967233"/>
              </a:xfrm>
              <a:prstGeom prst="roundRect">
                <a:avLst/>
              </a:prstGeom>
              <a:noFill/>
              <a:ln w="381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0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Centroid distance in features space and clusters ID results</a:t>
                </a:r>
              </a:p>
            </p:txBody>
          </p:sp>
        </p:grpSp>
        <p:cxnSp>
          <p:nvCxnSpPr>
            <p:cNvPr id="14" name="Connettore 2 13">
              <a:extLst>
                <a:ext uri="{FF2B5EF4-FFF2-40B4-BE49-F238E27FC236}">
                  <a16:creationId xmlns:a16="http://schemas.microsoft.com/office/drawing/2014/main" id="{DDEF28F9-4BE9-1F62-0825-8287D0641A65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>
              <a:off x="11673837" y="21470045"/>
              <a:ext cx="661490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Rettangolo con angoli arrotondati 14">
              <a:extLst>
                <a:ext uri="{FF2B5EF4-FFF2-40B4-BE49-F238E27FC236}">
                  <a16:creationId xmlns:a16="http://schemas.microsoft.com/office/drawing/2014/main" id="{C933B3E3-6EEE-141B-98DC-8F00D9D49026}"/>
                </a:ext>
              </a:extLst>
            </p:cNvPr>
            <p:cNvSpPr/>
            <p:nvPr/>
          </p:nvSpPr>
          <p:spPr>
            <a:xfrm>
              <a:off x="12940425" y="23221030"/>
              <a:ext cx="2261212" cy="775512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Dataset scaling</a:t>
              </a:r>
            </a:p>
          </p:txBody>
        </p:sp>
        <p:sp>
          <p:nvSpPr>
            <p:cNvPr id="16" name="Rettangolo con angoli arrotondati 15">
              <a:extLst>
                <a:ext uri="{FF2B5EF4-FFF2-40B4-BE49-F238E27FC236}">
                  <a16:creationId xmlns:a16="http://schemas.microsoft.com/office/drawing/2014/main" id="{77D100C4-58E8-491C-6E0F-C56AFB886A72}"/>
                </a:ext>
              </a:extLst>
            </p:cNvPr>
            <p:cNvSpPr/>
            <p:nvPr/>
          </p:nvSpPr>
          <p:spPr>
            <a:xfrm>
              <a:off x="8613360" y="23585984"/>
              <a:ext cx="3021280" cy="937060"/>
            </a:xfrm>
            <a:prstGeom prst="roundRect">
              <a:avLst/>
            </a:prstGeom>
            <a:noFill/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Clustering and scaler model</a:t>
              </a:r>
            </a:p>
          </p:txBody>
        </p:sp>
        <p:cxnSp>
          <p:nvCxnSpPr>
            <p:cNvPr id="17" name="Connettore 2 16">
              <a:extLst>
                <a:ext uri="{FF2B5EF4-FFF2-40B4-BE49-F238E27FC236}">
                  <a16:creationId xmlns:a16="http://schemas.microsoft.com/office/drawing/2014/main" id="{1B29EB7E-D398-942D-0F14-7217AD4FA256}"/>
                </a:ext>
              </a:extLst>
            </p:cNvPr>
            <p:cNvCxnSpPr>
              <a:cxnSpLocks/>
              <a:stCxn id="64" idx="2"/>
              <a:endCxn id="15" idx="0"/>
            </p:cNvCxnSpPr>
            <p:nvPr/>
          </p:nvCxnSpPr>
          <p:spPr>
            <a:xfrm flipH="1">
              <a:off x="14071031" y="23112769"/>
              <a:ext cx="1" cy="10826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ttore 2 17">
              <a:extLst>
                <a:ext uri="{FF2B5EF4-FFF2-40B4-BE49-F238E27FC236}">
                  <a16:creationId xmlns:a16="http://schemas.microsoft.com/office/drawing/2014/main" id="{C251DDE0-294A-88D7-1F56-C6334784D18D}"/>
                </a:ext>
              </a:extLst>
            </p:cNvPr>
            <p:cNvCxnSpPr>
              <a:cxnSpLocks/>
              <a:stCxn id="15" idx="2"/>
              <a:endCxn id="65" idx="0"/>
            </p:cNvCxnSpPr>
            <p:nvPr/>
          </p:nvCxnSpPr>
          <p:spPr>
            <a:xfrm>
              <a:off x="14071031" y="23996542"/>
              <a:ext cx="2" cy="115945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ttore a gomito 18">
              <a:extLst>
                <a:ext uri="{FF2B5EF4-FFF2-40B4-BE49-F238E27FC236}">
                  <a16:creationId xmlns:a16="http://schemas.microsoft.com/office/drawing/2014/main" id="{145CE8BF-1B7B-003E-83A0-0C210491F869}"/>
                </a:ext>
              </a:extLst>
            </p:cNvPr>
            <p:cNvCxnSpPr>
              <a:cxnSpLocks/>
              <a:stCxn id="16" idx="3"/>
              <a:endCxn id="15" idx="1"/>
            </p:cNvCxnSpPr>
            <p:nvPr/>
          </p:nvCxnSpPr>
          <p:spPr>
            <a:xfrm flipV="1">
              <a:off x="11634640" y="23608786"/>
              <a:ext cx="1305785" cy="445728"/>
            </a:xfrm>
            <a:prstGeom prst="bentConnector3">
              <a:avLst>
                <a:gd name="adj1" fmla="val 38329"/>
              </a:avLst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ttore a gomito 19">
              <a:extLst>
                <a:ext uri="{FF2B5EF4-FFF2-40B4-BE49-F238E27FC236}">
                  <a16:creationId xmlns:a16="http://schemas.microsoft.com/office/drawing/2014/main" id="{E8EC93AC-C651-DA84-EB14-78E64AD259F3}"/>
                </a:ext>
              </a:extLst>
            </p:cNvPr>
            <p:cNvCxnSpPr>
              <a:cxnSpLocks/>
              <a:stCxn id="16" idx="3"/>
              <a:endCxn id="65" idx="1"/>
            </p:cNvCxnSpPr>
            <p:nvPr/>
          </p:nvCxnSpPr>
          <p:spPr>
            <a:xfrm>
              <a:off x="11634640" y="24054514"/>
              <a:ext cx="1035016" cy="541590"/>
            </a:xfrm>
            <a:prstGeom prst="bentConnector3">
              <a:avLst>
                <a:gd name="adj1" fmla="val 48528"/>
              </a:avLst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ttangolo con angoli arrotondati 20">
              <a:extLst>
                <a:ext uri="{FF2B5EF4-FFF2-40B4-BE49-F238E27FC236}">
                  <a16:creationId xmlns:a16="http://schemas.microsoft.com/office/drawing/2014/main" id="{25FBE974-7783-3C9E-7A20-80C830FC05AB}"/>
                </a:ext>
              </a:extLst>
            </p:cNvPr>
            <p:cNvSpPr/>
            <p:nvPr/>
          </p:nvSpPr>
          <p:spPr>
            <a:xfrm>
              <a:off x="16141066" y="21005051"/>
              <a:ext cx="4125729" cy="4184983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000" u="sng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MLP creation and optimization</a:t>
              </a:r>
            </a:p>
          </p:txBody>
        </p:sp>
        <p:cxnSp>
          <p:nvCxnSpPr>
            <p:cNvPr id="22" name="Connettore 2 21">
              <a:extLst>
                <a:ext uri="{FF2B5EF4-FFF2-40B4-BE49-F238E27FC236}">
                  <a16:creationId xmlns:a16="http://schemas.microsoft.com/office/drawing/2014/main" id="{3AA452B4-5053-F57A-C845-52292A3F9EB6}"/>
                </a:ext>
              </a:extLst>
            </p:cNvPr>
            <p:cNvCxnSpPr>
              <a:cxnSpLocks/>
            </p:cNvCxnSpPr>
            <p:nvPr/>
          </p:nvCxnSpPr>
          <p:spPr>
            <a:xfrm>
              <a:off x="15786122" y="21470046"/>
              <a:ext cx="419429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Rettangolo con angoli arrotondati 22">
              <a:extLst>
                <a:ext uri="{FF2B5EF4-FFF2-40B4-BE49-F238E27FC236}">
                  <a16:creationId xmlns:a16="http://schemas.microsoft.com/office/drawing/2014/main" id="{28D214E9-4858-C544-EFD5-42A25D28EFA4}"/>
                </a:ext>
              </a:extLst>
            </p:cNvPr>
            <p:cNvSpPr/>
            <p:nvPr/>
          </p:nvSpPr>
          <p:spPr>
            <a:xfrm>
              <a:off x="17073324" y="23035549"/>
              <a:ext cx="2261212" cy="848314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noProof="0" dirty="0" err="1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Optuna</a:t>
              </a:r>
              <a:r>
                <a:rPr lang="en-GB" sz="10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optimization</a:t>
              </a:r>
            </a:p>
          </p:txBody>
        </p:sp>
        <p:sp>
          <p:nvSpPr>
            <p:cNvPr id="24" name="Rettangolo con angoli arrotondati 23">
              <a:extLst>
                <a:ext uri="{FF2B5EF4-FFF2-40B4-BE49-F238E27FC236}">
                  <a16:creationId xmlns:a16="http://schemas.microsoft.com/office/drawing/2014/main" id="{EEB368E6-00E8-3064-E9BC-6C5FE5D07593}"/>
                </a:ext>
              </a:extLst>
            </p:cNvPr>
            <p:cNvSpPr/>
            <p:nvPr/>
          </p:nvSpPr>
          <p:spPr>
            <a:xfrm>
              <a:off x="17073324" y="24171946"/>
              <a:ext cx="2261212" cy="848314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Model training and validation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ttangolo con angoli arrotondati 24">
                  <a:extLst>
                    <a:ext uri="{FF2B5EF4-FFF2-40B4-BE49-F238E27FC236}">
                      <a16:creationId xmlns:a16="http://schemas.microsoft.com/office/drawing/2014/main" id="{4D8EAB6E-555F-4EAC-8046-A67AA1CEF93D}"/>
                    </a:ext>
                  </a:extLst>
                </p:cNvPr>
                <p:cNvSpPr/>
                <p:nvPr/>
              </p:nvSpPr>
              <p:spPr>
                <a:xfrm>
                  <a:off x="16349144" y="21938574"/>
                  <a:ext cx="3709573" cy="848314"/>
                </a:xfrm>
                <a:prstGeom prst="roundRect">
                  <a:avLst/>
                </a:prstGeom>
                <a:noFill/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000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Target function definition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1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sSub>
                            <m:sSubPr>
                              <m:ctrlPr>
                                <a:rPr lang="en-GB" sz="10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sz="10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𝑐𝑜𝑟𝑟𝑒𝑐𝑡𝑒𝑑</m:t>
                              </m:r>
                            </m:sub>
                          </m:sSub>
                        </m:sub>
                      </m:sSub>
                      <m:r>
                        <a:rPr lang="en-GB" sz="1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GB" sz="1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GB" sz="10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𝑠𝑔𝑠</m:t>
                          </m:r>
                        </m:sub>
                      </m:sSub>
                      <m:r>
                        <a:rPr lang="en-GB" sz="1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1000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25" name="Rettangolo con angoli arrotondati 24">
                  <a:extLst>
                    <a:ext uri="{FF2B5EF4-FFF2-40B4-BE49-F238E27FC236}">
                      <a16:creationId xmlns:a16="http://schemas.microsoft.com/office/drawing/2014/main" id="{4D8EAB6E-555F-4EAC-8046-A67AA1CEF93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49144" y="21938574"/>
                  <a:ext cx="3709573" cy="848314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solidFill>
                    <a:srgbClr val="0070C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Connettore 2 25">
              <a:extLst>
                <a:ext uri="{FF2B5EF4-FFF2-40B4-BE49-F238E27FC236}">
                  <a16:creationId xmlns:a16="http://schemas.microsoft.com/office/drawing/2014/main" id="{5005C8BF-F002-A972-DC19-E2085B5E0391}"/>
                </a:ext>
              </a:extLst>
            </p:cNvPr>
            <p:cNvCxnSpPr>
              <a:cxnSpLocks/>
              <a:stCxn id="25" idx="2"/>
              <a:endCxn id="23" idx="0"/>
            </p:cNvCxnSpPr>
            <p:nvPr/>
          </p:nvCxnSpPr>
          <p:spPr>
            <a:xfrm flipH="1">
              <a:off x="18203929" y="22786888"/>
              <a:ext cx="1" cy="248661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nettore 2 26">
              <a:extLst>
                <a:ext uri="{FF2B5EF4-FFF2-40B4-BE49-F238E27FC236}">
                  <a16:creationId xmlns:a16="http://schemas.microsoft.com/office/drawing/2014/main" id="{FCE1D246-9743-9DA0-02F5-5CD968B2241E}"/>
                </a:ext>
              </a:extLst>
            </p:cNvPr>
            <p:cNvCxnSpPr>
              <a:cxnSpLocks/>
            </p:cNvCxnSpPr>
            <p:nvPr/>
          </p:nvCxnSpPr>
          <p:spPr>
            <a:xfrm>
              <a:off x="18615410" y="23883863"/>
              <a:ext cx="0" cy="28808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2 27">
              <a:extLst>
                <a:ext uri="{FF2B5EF4-FFF2-40B4-BE49-F238E27FC236}">
                  <a16:creationId xmlns:a16="http://schemas.microsoft.com/office/drawing/2014/main" id="{3685C062-8159-1B87-CEC9-2D486ACCDA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92450" y="23883863"/>
              <a:ext cx="0" cy="28808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ttangolo con angoli arrotondati 28">
              <a:extLst>
                <a:ext uri="{FF2B5EF4-FFF2-40B4-BE49-F238E27FC236}">
                  <a16:creationId xmlns:a16="http://schemas.microsoft.com/office/drawing/2014/main" id="{0891566A-C857-2909-45CC-B9CA6579F04A}"/>
                </a:ext>
              </a:extLst>
            </p:cNvPr>
            <p:cNvSpPr/>
            <p:nvPr/>
          </p:nvSpPr>
          <p:spPr>
            <a:xfrm>
              <a:off x="20601125" y="21005052"/>
              <a:ext cx="3471409" cy="3346016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GB" sz="1000" u="sng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MLP model for turbulent viscosity correction</a:t>
              </a:r>
            </a:p>
          </p:txBody>
        </p:sp>
        <p:cxnSp>
          <p:nvCxnSpPr>
            <p:cNvPr id="30" name="Connettore 2 29">
              <a:extLst>
                <a:ext uri="{FF2B5EF4-FFF2-40B4-BE49-F238E27FC236}">
                  <a16:creationId xmlns:a16="http://schemas.microsoft.com/office/drawing/2014/main" id="{B21A507D-A359-378F-FD3A-80FAF2EF1FCE}"/>
                </a:ext>
              </a:extLst>
            </p:cNvPr>
            <p:cNvCxnSpPr>
              <a:cxnSpLocks/>
            </p:cNvCxnSpPr>
            <p:nvPr/>
          </p:nvCxnSpPr>
          <p:spPr>
            <a:xfrm>
              <a:off x="20217525" y="21470046"/>
              <a:ext cx="421012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1" name="Gruppo 30">
              <a:extLst>
                <a:ext uri="{FF2B5EF4-FFF2-40B4-BE49-F238E27FC236}">
                  <a16:creationId xmlns:a16="http://schemas.microsoft.com/office/drawing/2014/main" id="{AE1A9601-7473-44F3-AC23-62F90D65179E}"/>
                </a:ext>
              </a:extLst>
            </p:cNvPr>
            <p:cNvGrpSpPr/>
            <p:nvPr/>
          </p:nvGrpSpPr>
          <p:grpSpPr>
            <a:xfrm>
              <a:off x="20696680" y="22363127"/>
              <a:ext cx="3331928" cy="1719512"/>
              <a:chOff x="19733355" y="24483804"/>
              <a:chExt cx="3331928" cy="1719512"/>
            </a:xfrm>
          </p:grpSpPr>
          <p:sp>
            <p:nvSpPr>
              <p:cNvPr id="32" name="Ovale 31">
                <a:extLst>
                  <a:ext uri="{FF2B5EF4-FFF2-40B4-BE49-F238E27FC236}">
                    <a16:creationId xmlns:a16="http://schemas.microsoft.com/office/drawing/2014/main" id="{DC3CFD2B-E008-C516-3783-2EE3B5A3EB7F}"/>
                  </a:ext>
                </a:extLst>
              </p:cNvPr>
              <p:cNvSpPr/>
              <p:nvPr/>
            </p:nvSpPr>
            <p:spPr>
              <a:xfrm>
                <a:off x="20256676" y="25012888"/>
                <a:ext cx="288121" cy="277876"/>
              </a:xfrm>
              <a:prstGeom prst="ellips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3" name="Ovale 32">
                <a:extLst>
                  <a:ext uri="{FF2B5EF4-FFF2-40B4-BE49-F238E27FC236}">
                    <a16:creationId xmlns:a16="http://schemas.microsoft.com/office/drawing/2014/main" id="{2E545C21-A2B9-0293-544D-20F692A55211}"/>
                  </a:ext>
                </a:extLst>
              </p:cNvPr>
              <p:cNvSpPr/>
              <p:nvPr/>
            </p:nvSpPr>
            <p:spPr>
              <a:xfrm>
                <a:off x="20733747" y="24483804"/>
                <a:ext cx="288121" cy="277876"/>
              </a:xfrm>
              <a:prstGeom prst="ellips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4" name="Ovale 33">
                <a:extLst>
                  <a:ext uri="{FF2B5EF4-FFF2-40B4-BE49-F238E27FC236}">
                    <a16:creationId xmlns:a16="http://schemas.microsoft.com/office/drawing/2014/main" id="{255BC95E-3D4A-50E7-DB98-FE7E953F144D}"/>
                  </a:ext>
                </a:extLst>
              </p:cNvPr>
              <p:cNvSpPr/>
              <p:nvPr/>
            </p:nvSpPr>
            <p:spPr>
              <a:xfrm>
                <a:off x="20733747" y="25012888"/>
                <a:ext cx="288121" cy="277876"/>
              </a:xfrm>
              <a:prstGeom prst="ellips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5" name="Ovale 34">
                <a:extLst>
                  <a:ext uri="{FF2B5EF4-FFF2-40B4-BE49-F238E27FC236}">
                    <a16:creationId xmlns:a16="http://schemas.microsoft.com/office/drawing/2014/main" id="{EC957105-0A73-A684-40DC-0A0A74C11681}"/>
                  </a:ext>
                </a:extLst>
              </p:cNvPr>
              <p:cNvSpPr/>
              <p:nvPr/>
            </p:nvSpPr>
            <p:spPr>
              <a:xfrm>
                <a:off x="20733746" y="25541972"/>
                <a:ext cx="288121" cy="277876"/>
              </a:xfrm>
              <a:prstGeom prst="ellips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6" name="Ovale 35">
                <a:extLst>
                  <a:ext uri="{FF2B5EF4-FFF2-40B4-BE49-F238E27FC236}">
                    <a16:creationId xmlns:a16="http://schemas.microsoft.com/office/drawing/2014/main" id="{4A2DEAB0-A6DF-2CAF-E6A9-2AC8F0010468}"/>
                  </a:ext>
                </a:extLst>
              </p:cNvPr>
              <p:cNvSpPr/>
              <p:nvPr/>
            </p:nvSpPr>
            <p:spPr>
              <a:xfrm>
                <a:off x="21221335" y="24746053"/>
                <a:ext cx="288121" cy="277876"/>
              </a:xfrm>
              <a:prstGeom prst="ellips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7" name="Ovale 36">
                <a:extLst>
                  <a:ext uri="{FF2B5EF4-FFF2-40B4-BE49-F238E27FC236}">
                    <a16:creationId xmlns:a16="http://schemas.microsoft.com/office/drawing/2014/main" id="{31794317-72E8-0995-4B45-C3C6D7EC522F}"/>
                  </a:ext>
                </a:extLst>
              </p:cNvPr>
              <p:cNvSpPr/>
              <p:nvPr/>
            </p:nvSpPr>
            <p:spPr>
              <a:xfrm>
                <a:off x="21221335" y="25264096"/>
                <a:ext cx="288121" cy="277876"/>
              </a:xfrm>
              <a:prstGeom prst="ellips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8" name="Ovale 37">
                <a:extLst>
                  <a:ext uri="{FF2B5EF4-FFF2-40B4-BE49-F238E27FC236}">
                    <a16:creationId xmlns:a16="http://schemas.microsoft.com/office/drawing/2014/main" id="{AEAE81DD-94C0-2F26-7276-F28307A01EAC}"/>
                  </a:ext>
                </a:extLst>
              </p:cNvPr>
              <p:cNvSpPr/>
              <p:nvPr/>
            </p:nvSpPr>
            <p:spPr>
              <a:xfrm>
                <a:off x="21706361" y="24484709"/>
                <a:ext cx="288121" cy="277876"/>
              </a:xfrm>
              <a:prstGeom prst="ellips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9" name="Ovale 38">
                <a:extLst>
                  <a:ext uri="{FF2B5EF4-FFF2-40B4-BE49-F238E27FC236}">
                    <a16:creationId xmlns:a16="http://schemas.microsoft.com/office/drawing/2014/main" id="{F02C6CE4-EE64-EB7C-E8C3-A1864F303165}"/>
                  </a:ext>
                </a:extLst>
              </p:cNvPr>
              <p:cNvSpPr/>
              <p:nvPr/>
            </p:nvSpPr>
            <p:spPr>
              <a:xfrm>
                <a:off x="21706361" y="25013793"/>
                <a:ext cx="288121" cy="277876"/>
              </a:xfrm>
              <a:prstGeom prst="ellips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0" name="Ovale 39">
                <a:extLst>
                  <a:ext uri="{FF2B5EF4-FFF2-40B4-BE49-F238E27FC236}">
                    <a16:creationId xmlns:a16="http://schemas.microsoft.com/office/drawing/2014/main" id="{CFE25E50-9349-2B7B-C400-12B42ADBF9DF}"/>
                  </a:ext>
                </a:extLst>
              </p:cNvPr>
              <p:cNvSpPr/>
              <p:nvPr/>
            </p:nvSpPr>
            <p:spPr>
              <a:xfrm>
                <a:off x="21706360" y="25542877"/>
                <a:ext cx="288121" cy="277876"/>
              </a:xfrm>
              <a:prstGeom prst="ellips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1" name="Ovale 40">
                <a:extLst>
                  <a:ext uri="{FF2B5EF4-FFF2-40B4-BE49-F238E27FC236}">
                    <a16:creationId xmlns:a16="http://schemas.microsoft.com/office/drawing/2014/main" id="{08F04BA6-BFB2-60FF-56D3-A281905A9A22}"/>
                  </a:ext>
                </a:extLst>
              </p:cNvPr>
              <p:cNvSpPr/>
              <p:nvPr/>
            </p:nvSpPr>
            <p:spPr>
              <a:xfrm>
                <a:off x="22195503" y="25012888"/>
                <a:ext cx="288121" cy="277876"/>
              </a:xfrm>
              <a:prstGeom prst="ellipse">
                <a:avLst/>
              </a:prstGeom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000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42" name="Connettore 2 41">
                <a:extLst>
                  <a:ext uri="{FF2B5EF4-FFF2-40B4-BE49-F238E27FC236}">
                    <a16:creationId xmlns:a16="http://schemas.microsoft.com/office/drawing/2014/main" id="{2BA27036-0950-2388-02F5-95AE1344D53C}"/>
                  </a:ext>
                </a:extLst>
              </p:cNvPr>
              <p:cNvCxnSpPr>
                <a:cxnSpLocks/>
                <a:stCxn id="32" idx="6"/>
                <a:endCxn id="33" idx="2"/>
              </p:cNvCxnSpPr>
              <p:nvPr/>
            </p:nvCxnSpPr>
            <p:spPr>
              <a:xfrm flipV="1">
                <a:off x="20544797" y="24622742"/>
                <a:ext cx="188950" cy="529084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nettore 2 42">
                <a:extLst>
                  <a:ext uri="{FF2B5EF4-FFF2-40B4-BE49-F238E27FC236}">
                    <a16:creationId xmlns:a16="http://schemas.microsoft.com/office/drawing/2014/main" id="{ABCF7F50-7D92-E2C8-FE4B-1120F6B29FD5}"/>
                  </a:ext>
                </a:extLst>
              </p:cNvPr>
              <p:cNvCxnSpPr>
                <a:cxnSpLocks/>
                <a:stCxn id="32" idx="6"/>
                <a:endCxn id="34" idx="2"/>
              </p:cNvCxnSpPr>
              <p:nvPr/>
            </p:nvCxnSpPr>
            <p:spPr>
              <a:xfrm>
                <a:off x="20544797" y="25151826"/>
                <a:ext cx="188950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nettore 2 43">
                <a:extLst>
                  <a:ext uri="{FF2B5EF4-FFF2-40B4-BE49-F238E27FC236}">
                    <a16:creationId xmlns:a16="http://schemas.microsoft.com/office/drawing/2014/main" id="{D04AFCA6-AF22-23AC-6DF8-B0D9D05D7ADD}"/>
                  </a:ext>
                </a:extLst>
              </p:cNvPr>
              <p:cNvCxnSpPr>
                <a:cxnSpLocks/>
                <a:stCxn id="32" idx="6"/>
                <a:endCxn id="35" idx="2"/>
              </p:cNvCxnSpPr>
              <p:nvPr/>
            </p:nvCxnSpPr>
            <p:spPr>
              <a:xfrm>
                <a:off x="20544797" y="25151826"/>
                <a:ext cx="188949" cy="529084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nettore 2 44">
                <a:extLst>
                  <a:ext uri="{FF2B5EF4-FFF2-40B4-BE49-F238E27FC236}">
                    <a16:creationId xmlns:a16="http://schemas.microsoft.com/office/drawing/2014/main" id="{BB6D6DD3-682C-65A9-30DC-18CE18678DC8}"/>
                  </a:ext>
                </a:extLst>
              </p:cNvPr>
              <p:cNvCxnSpPr>
                <a:cxnSpLocks/>
                <a:stCxn id="33" idx="6"/>
                <a:endCxn id="36" idx="2"/>
              </p:cNvCxnSpPr>
              <p:nvPr/>
            </p:nvCxnSpPr>
            <p:spPr>
              <a:xfrm>
                <a:off x="21021868" y="24622742"/>
                <a:ext cx="199467" cy="262249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nettore 2 45">
                <a:extLst>
                  <a:ext uri="{FF2B5EF4-FFF2-40B4-BE49-F238E27FC236}">
                    <a16:creationId xmlns:a16="http://schemas.microsoft.com/office/drawing/2014/main" id="{B38AD048-2201-984B-34AE-356DA1394E42}"/>
                  </a:ext>
                </a:extLst>
              </p:cNvPr>
              <p:cNvCxnSpPr>
                <a:cxnSpLocks/>
                <a:stCxn id="34" idx="6"/>
                <a:endCxn id="36" idx="2"/>
              </p:cNvCxnSpPr>
              <p:nvPr/>
            </p:nvCxnSpPr>
            <p:spPr>
              <a:xfrm flipV="1">
                <a:off x="21021868" y="24884991"/>
                <a:ext cx="199467" cy="266835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nettore 2 46">
                <a:extLst>
                  <a:ext uri="{FF2B5EF4-FFF2-40B4-BE49-F238E27FC236}">
                    <a16:creationId xmlns:a16="http://schemas.microsoft.com/office/drawing/2014/main" id="{494A4252-A04A-42A6-307E-5BEEB8EFABA2}"/>
                  </a:ext>
                </a:extLst>
              </p:cNvPr>
              <p:cNvCxnSpPr>
                <a:cxnSpLocks/>
                <a:stCxn id="35" idx="6"/>
                <a:endCxn id="36" idx="2"/>
              </p:cNvCxnSpPr>
              <p:nvPr/>
            </p:nvCxnSpPr>
            <p:spPr>
              <a:xfrm flipV="1">
                <a:off x="21021867" y="24884991"/>
                <a:ext cx="199468" cy="795919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ttore 2 47">
                <a:extLst>
                  <a:ext uri="{FF2B5EF4-FFF2-40B4-BE49-F238E27FC236}">
                    <a16:creationId xmlns:a16="http://schemas.microsoft.com/office/drawing/2014/main" id="{DB738ED7-8581-37E9-1D0D-DDC92277B62B}"/>
                  </a:ext>
                </a:extLst>
              </p:cNvPr>
              <p:cNvCxnSpPr>
                <a:cxnSpLocks/>
                <a:stCxn id="35" idx="6"/>
                <a:endCxn id="37" idx="2"/>
              </p:cNvCxnSpPr>
              <p:nvPr/>
            </p:nvCxnSpPr>
            <p:spPr>
              <a:xfrm flipV="1">
                <a:off x="21021867" y="25403034"/>
                <a:ext cx="199468" cy="277876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nettore 2 48">
                <a:extLst>
                  <a:ext uri="{FF2B5EF4-FFF2-40B4-BE49-F238E27FC236}">
                    <a16:creationId xmlns:a16="http://schemas.microsoft.com/office/drawing/2014/main" id="{8B1AC516-2455-2D22-B3EA-7B307D5B6C02}"/>
                  </a:ext>
                </a:extLst>
              </p:cNvPr>
              <p:cNvCxnSpPr>
                <a:cxnSpLocks/>
                <a:stCxn id="34" idx="6"/>
                <a:endCxn id="37" idx="2"/>
              </p:cNvCxnSpPr>
              <p:nvPr/>
            </p:nvCxnSpPr>
            <p:spPr>
              <a:xfrm>
                <a:off x="21021868" y="25151826"/>
                <a:ext cx="199467" cy="251208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nettore 2 49">
                <a:extLst>
                  <a:ext uri="{FF2B5EF4-FFF2-40B4-BE49-F238E27FC236}">
                    <a16:creationId xmlns:a16="http://schemas.microsoft.com/office/drawing/2014/main" id="{0F827DF5-558F-3744-C43A-A5908E482E9F}"/>
                  </a:ext>
                </a:extLst>
              </p:cNvPr>
              <p:cNvCxnSpPr>
                <a:cxnSpLocks/>
                <a:stCxn id="33" idx="6"/>
                <a:endCxn id="37" idx="2"/>
              </p:cNvCxnSpPr>
              <p:nvPr/>
            </p:nvCxnSpPr>
            <p:spPr>
              <a:xfrm>
                <a:off x="21021868" y="24622742"/>
                <a:ext cx="199467" cy="780292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nettore 2 50">
                <a:extLst>
                  <a:ext uri="{FF2B5EF4-FFF2-40B4-BE49-F238E27FC236}">
                    <a16:creationId xmlns:a16="http://schemas.microsoft.com/office/drawing/2014/main" id="{627520AB-04E1-E080-F586-89830FB85F21}"/>
                  </a:ext>
                </a:extLst>
              </p:cNvPr>
              <p:cNvCxnSpPr>
                <a:cxnSpLocks/>
                <a:stCxn id="36" idx="6"/>
                <a:endCxn id="38" idx="2"/>
              </p:cNvCxnSpPr>
              <p:nvPr/>
            </p:nvCxnSpPr>
            <p:spPr>
              <a:xfrm flipV="1">
                <a:off x="21509456" y="24623647"/>
                <a:ext cx="196905" cy="261344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nettore 2 51">
                <a:extLst>
                  <a:ext uri="{FF2B5EF4-FFF2-40B4-BE49-F238E27FC236}">
                    <a16:creationId xmlns:a16="http://schemas.microsoft.com/office/drawing/2014/main" id="{08966998-2B28-CD74-BB9A-A24554596D92}"/>
                  </a:ext>
                </a:extLst>
              </p:cNvPr>
              <p:cNvCxnSpPr>
                <a:cxnSpLocks/>
                <a:stCxn id="36" idx="6"/>
                <a:endCxn id="39" idx="2"/>
              </p:cNvCxnSpPr>
              <p:nvPr/>
            </p:nvCxnSpPr>
            <p:spPr>
              <a:xfrm>
                <a:off x="21509456" y="24884991"/>
                <a:ext cx="196905" cy="26774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nettore 2 52">
                <a:extLst>
                  <a:ext uri="{FF2B5EF4-FFF2-40B4-BE49-F238E27FC236}">
                    <a16:creationId xmlns:a16="http://schemas.microsoft.com/office/drawing/2014/main" id="{BF1A2A59-6B5D-3D58-BEF6-C7021247E96B}"/>
                  </a:ext>
                </a:extLst>
              </p:cNvPr>
              <p:cNvCxnSpPr>
                <a:cxnSpLocks/>
                <a:stCxn id="36" idx="6"/>
                <a:endCxn id="40" idx="2"/>
              </p:cNvCxnSpPr>
              <p:nvPr/>
            </p:nvCxnSpPr>
            <p:spPr>
              <a:xfrm>
                <a:off x="21509456" y="24884991"/>
                <a:ext cx="196904" cy="796824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nettore 2 53">
                <a:extLst>
                  <a:ext uri="{FF2B5EF4-FFF2-40B4-BE49-F238E27FC236}">
                    <a16:creationId xmlns:a16="http://schemas.microsoft.com/office/drawing/2014/main" id="{859BB6B5-A311-A680-86E8-6B10357E3053}"/>
                  </a:ext>
                </a:extLst>
              </p:cNvPr>
              <p:cNvCxnSpPr>
                <a:cxnSpLocks/>
                <a:stCxn id="37" idx="6"/>
                <a:endCxn id="38" idx="2"/>
              </p:cNvCxnSpPr>
              <p:nvPr/>
            </p:nvCxnSpPr>
            <p:spPr>
              <a:xfrm flipV="1">
                <a:off x="21509456" y="24623647"/>
                <a:ext cx="196905" cy="779387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nettore 2 54">
                <a:extLst>
                  <a:ext uri="{FF2B5EF4-FFF2-40B4-BE49-F238E27FC236}">
                    <a16:creationId xmlns:a16="http://schemas.microsoft.com/office/drawing/2014/main" id="{C88BC569-00C7-A091-6FA7-2E2FD698DA52}"/>
                  </a:ext>
                </a:extLst>
              </p:cNvPr>
              <p:cNvCxnSpPr>
                <a:cxnSpLocks/>
                <a:stCxn id="37" idx="6"/>
                <a:endCxn id="39" idx="2"/>
              </p:cNvCxnSpPr>
              <p:nvPr/>
            </p:nvCxnSpPr>
            <p:spPr>
              <a:xfrm flipV="1">
                <a:off x="21509456" y="25152731"/>
                <a:ext cx="196905" cy="250303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nettore 2 55">
                <a:extLst>
                  <a:ext uri="{FF2B5EF4-FFF2-40B4-BE49-F238E27FC236}">
                    <a16:creationId xmlns:a16="http://schemas.microsoft.com/office/drawing/2014/main" id="{8868D079-8288-91DC-0357-258A0B728417}"/>
                  </a:ext>
                </a:extLst>
              </p:cNvPr>
              <p:cNvCxnSpPr>
                <a:cxnSpLocks/>
                <a:stCxn id="37" idx="6"/>
                <a:endCxn id="40" idx="2"/>
              </p:cNvCxnSpPr>
              <p:nvPr/>
            </p:nvCxnSpPr>
            <p:spPr>
              <a:xfrm>
                <a:off x="21509456" y="25403034"/>
                <a:ext cx="196904" cy="278781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nettore 2 56">
                <a:extLst>
                  <a:ext uri="{FF2B5EF4-FFF2-40B4-BE49-F238E27FC236}">
                    <a16:creationId xmlns:a16="http://schemas.microsoft.com/office/drawing/2014/main" id="{3BAEF914-C85B-09C8-DC99-668ED3DF855B}"/>
                  </a:ext>
                </a:extLst>
              </p:cNvPr>
              <p:cNvCxnSpPr>
                <a:cxnSpLocks/>
                <a:stCxn id="38" idx="6"/>
                <a:endCxn id="41" idx="2"/>
              </p:cNvCxnSpPr>
              <p:nvPr/>
            </p:nvCxnSpPr>
            <p:spPr>
              <a:xfrm>
                <a:off x="21994482" y="24623647"/>
                <a:ext cx="201021" cy="528179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nettore 2 57">
                <a:extLst>
                  <a:ext uri="{FF2B5EF4-FFF2-40B4-BE49-F238E27FC236}">
                    <a16:creationId xmlns:a16="http://schemas.microsoft.com/office/drawing/2014/main" id="{F44A8A38-8E82-E225-6FA3-C36A67DB70C2}"/>
                  </a:ext>
                </a:extLst>
              </p:cNvPr>
              <p:cNvCxnSpPr>
                <a:cxnSpLocks/>
                <a:stCxn id="39" idx="6"/>
                <a:endCxn id="41" idx="2"/>
              </p:cNvCxnSpPr>
              <p:nvPr/>
            </p:nvCxnSpPr>
            <p:spPr>
              <a:xfrm flipV="1">
                <a:off x="21994482" y="25151826"/>
                <a:ext cx="201021" cy="905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nettore 2 58">
                <a:extLst>
                  <a:ext uri="{FF2B5EF4-FFF2-40B4-BE49-F238E27FC236}">
                    <a16:creationId xmlns:a16="http://schemas.microsoft.com/office/drawing/2014/main" id="{76DF7F3E-3ACC-6EF8-45F4-8CE17F50DD78}"/>
                  </a:ext>
                </a:extLst>
              </p:cNvPr>
              <p:cNvCxnSpPr>
                <a:cxnSpLocks/>
                <a:stCxn id="40" idx="6"/>
                <a:endCxn id="41" idx="2"/>
              </p:cNvCxnSpPr>
              <p:nvPr/>
            </p:nvCxnSpPr>
            <p:spPr>
              <a:xfrm flipV="1">
                <a:off x="21994481" y="25151826"/>
                <a:ext cx="201022" cy="529989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CasellaDiTesto 59">
                <a:extLst>
                  <a:ext uri="{FF2B5EF4-FFF2-40B4-BE49-F238E27FC236}">
                    <a16:creationId xmlns:a16="http://schemas.microsoft.com/office/drawing/2014/main" id="{A6B1035E-348D-146E-C274-E3909FE95B17}"/>
                  </a:ext>
                </a:extLst>
              </p:cNvPr>
              <p:cNvSpPr txBox="1"/>
              <p:nvPr/>
            </p:nvSpPr>
            <p:spPr>
              <a:xfrm>
                <a:off x="19733355" y="25349763"/>
                <a:ext cx="1329720" cy="44575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Input </a:t>
                </a:r>
              </a:p>
            </p:txBody>
          </p:sp>
          <p:sp>
            <p:nvSpPr>
              <p:cNvPr id="61" name="CasellaDiTesto 60">
                <a:extLst>
                  <a:ext uri="{FF2B5EF4-FFF2-40B4-BE49-F238E27FC236}">
                    <a16:creationId xmlns:a16="http://schemas.microsoft.com/office/drawing/2014/main" id="{2E8889B0-CF93-7B7B-65A2-842FDAD7F136}"/>
                  </a:ext>
                </a:extLst>
              </p:cNvPr>
              <p:cNvSpPr txBox="1"/>
              <p:nvPr/>
            </p:nvSpPr>
            <p:spPr>
              <a:xfrm>
                <a:off x="20700534" y="25757563"/>
                <a:ext cx="1329720" cy="445753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Layers </a:t>
                </a:r>
              </a:p>
            </p:txBody>
          </p:sp>
          <p:sp>
            <p:nvSpPr>
              <p:cNvPr id="62" name="CasellaDiTesto 61">
                <a:extLst>
                  <a:ext uri="{FF2B5EF4-FFF2-40B4-BE49-F238E27FC236}">
                    <a16:creationId xmlns:a16="http://schemas.microsoft.com/office/drawing/2014/main" id="{B470AC9F-8EA4-FCA5-433D-2B0394DAD8D6}"/>
                  </a:ext>
                </a:extLst>
              </p:cNvPr>
              <p:cNvSpPr txBox="1"/>
              <p:nvPr/>
            </p:nvSpPr>
            <p:spPr>
              <a:xfrm>
                <a:off x="21735563" y="25356402"/>
                <a:ext cx="1329720" cy="445754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1000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Output 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0574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uppo 59">
            <a:extLst>
              <a:ext uri="{FF2B5EF4-FFF2-40B4-BE49-F238E27FC236}">
                <a16:creationId xmlns:a16="http://schemas.microsoft.com/office/drawing/2014/main" id="{107C07C9-14BC-680F-9ED6-06B1590CCF73}"/>
              </a:ext>
            </a:extLst>
          </p:cNvPr>
          <p:cNvGrpSpPr/>
          <p:nvPr/>
        </p:nvGrpSpPr>
        <p:grpSpPr>
          <a:xfrm>
            <a:off x="0" y="1063111"/>
            <a:ext cx="14523013" cy="5629079"/>
            <a:chOff x="0" y="1063111"/>
            <a:chExt cx="14523013" cy="5629079"/>
          </a:xfrm>
        </p:grpSpPr>
        <p:grpSp>
          <p:nvGrpSpPr>
            <p:cNvPr id="40" name="Gruppo 39">
              <a:extLst>
                <a:ext uri="{FF2B5EF4-FFF2-40B4-BE49-F238E27FC236}">
                  <a16:creationId xmlns:a16="http://schemas.microsoft.com/office/drawing/2014/main" id="{57584BF9-2FC3-589A-FB76-CC035068947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1063111"/>
              <a:ext cx="12198754" cy="5629079"/>
              <a:chOff x="368437" y="2271217"/>
              <a:chExt cx="7047107" cy="3251867"/>
            </a:xfrm>
          </p:grpSpPr>
          <p:sp>
            <p:nvSpPr>
              <p:cNvPr id="4" name="Rettangolo con angoli arrotondati 3">
                <a:extLst>
                  <a:ext uri="{FF2B5EF4-FFF2-40B4-BE49-F238E27FC236}">
                    <a16:creationId xmlns:a16="http://schemas.microsoft.com/office/drawing/2014/main" id="{E12EA84C-CDA7-DA78-5189-DD12AB8CF24D}"/>
                  </a:ext>
                </a:extLst>
              </p:cNvPr>
              <p:cNvSpPr/>
              <p:nvPr/>
            </p:nvSpPr>
            <p:spPr>
              <a:xfrm>
                <a:off x="368437" y="2273549"/>
                <a:ext cx="977316" cy="517604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RANS Simulation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Rettangolo con angoli arrotondati 4">
                    <a:extLst>
                      <a:ext uri="{FF2B5EF4-FFF2-40B4-BE49-F238E27FC236}">
                        <a16:creationId xmlns:a16="http://schemas.microsoft.com/office/drawing/2014/main" id="{0EE65C04-C5CA-C40D-4504-B4DE84AF0B82}"/>
                      </a:ext>
                    </a:extLst>
                  </p:cNvPr>
                  <p:cNvSpPr/>
                  <p:nvPr/>
                </p:nvSpPr>
                <p:spPr>
                  <a:xfrm>
                    <a:off x="2025259" y="2891683"/>
                    <a:ext cx="1006634" cy="652499"/>
                  </a:xfrm>
                  <a:prstGeom prst="roundRect">
                    <a:avLst/>
                  </a:prstGeom>
                  <a:no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GB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it-IT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b>
                                <m:r>
                                  <a:rPr lang="it-IT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𝐿𝐸𝑆</m:t>
                                </m:r>
                                <m:r>
                                  <a:rPr lang="it-IT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it-IT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𝑚𝑒𝑎𝑛</m:t>
                                </m:r>
                              </m:sub>
                            </m:sSub>
                          </m:e>
                        </m:acc>
                      </m:oMath>
                    </a14:m>
                    <a:r>
                      <a:rPr lang="en-GB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and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𝐿𝐸𝑆</m:t>
                            </m:r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 </m:t>
                            </m:r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𝑚𝑒𝑎𝑛</m:t>
                            </m:r>
                          </m:sub>
                        </m:sSub>
                      </m:oMath>
                    </a14:m>
                    <a:endParaRPr lang="en-GB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5" name="Rettangolo con angoli arrotondati 4">
                    <a:extLst>
                      <a:ext uri="{FF2B5EF4-FFF2-40B4-BE49-F238E27FC236}">
                        <a16:creationId xmlns:a16="http://schemas.microsoft.com/office/drawing/2014/main" id="{0EE65C04-C5CA-C40D-4504-B4DE84AF0B8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25259" y="2891683"/>
                    <a:ext cx="1006634" cy="652499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 r="-342"/>
                    </a:stretch>
                  </a:blipFill>
                  <a:ln w="381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" name="Rettangolo con angoli arrotondati 5">
                <a:extLst>
                  <a:ext uri="{FF2B5EF4-FFF2-40B4-BE49-F238E27FC236}">
                    <a16:creationId xmlns:a16="http://schemas.microsoft.com/office/drawing/2014/main" id="{69793D09-F32C-9333-4D9B-19B11819CF32}"/>
                  </a:ext>
                </a:extLst>
              </p:cNvPr>
              <p:cNvSpPr/>
              <p:nvPr/>
            </p:nvSpPr>
            <p:spPr>
              <a:xfrm>
                <a:off x="1936452" y="3796376"/>
                <a:ext cx="1185277" cy="517604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Transport and turbulence calculation</a:t>
                </a:r>
              </a:p>
            </p:txBody>
          </p:sp>
          <p:sp>
            <p:nvSpPr>
              <p:cNvPr id="7" name="Rettangolo con angoli arrotondati 6">
                <a:extLst>
                  <a:ext uri="{FF2B5EF4-FFF2-40B4-BE49-F238E27FC236}">
                    <a16:creationId xmlns:a16="http://schemas.microsoft.com/office/drawing/2014/main" id="{86D556F4-6492-9893-07C7-A9B955D06829}"/>
                  </a:ext>
                </a:extLst>
              </p:cNvPr>
              <p:cNvSpPr/>
              <p:nvPr/>
            </p:nvSpPr>
            <p:spPr>
              <a:xfrm>
                <a:off x="1694657" y="2273166"/>
                <a:ext cx="1668865" cy="2137950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GB" u="sng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SIMPLE solver</a:t>
                </a:r>
              </a:p>
            </p:txBody>
          </p:sp>
          <p:cxnSp>
            <p:nvCxnSpPr>
              <p:cNvPr id="8" name="Connettore 2 7">
                <a:extLst>
                  <a:ext uri="{FF2B5EF4-FFF2-40B4-BE49-F238E27FC236}">
                    <a16:creationId xmlns:a16="http://schemas.microsoft.com/office/drawing/2014/main" id="{3B1A56E9-91EB-97D3-9B5D-00C6C4FD9771}"/>
                  </a:ext>
                </a:extLst>
              </p:cNvPr>
              <p:cNvCxnSpPr>
                <a:cxnSpLocks/>
                <a:stCxn id="4" idx="3"/>
              </p:cNvCxnSpPr>
              <p:nvPr/>
            </p:nvCxnSpPr>
            <p:spPr>
              <a:xfrm>
                <a:off x="1345753" y="2532351"/>
                <a:ext cx="348785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Rettangolo con angoli arrotondati 8">
                <a:extLst>
                  <a:ext uri="{FF2B5EF4-FFF2-40B4-BE49-F238E27FC236}">
                    <a16:creationId xmlns:a16="http://schemas.microsoft.com/office/drawing/2014/main" id="{A104FDF3-EAAC-4FD5-CF77-848A4D80B496}"/>
                  </a:ext>
                </a:extLst>
              </p:cNvPr>
              <p:cNvSpPr/>
              <p:nvPr/>
            </p:nvSpPr>
            <p:spPr>
              <a:xfrm>
                <a:off x="368437" y="2956425"/>
                <a:ext cx="977316" cy="517604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LES Simulation</a:t>
                </a:r>
                <a:endParaRPr lang="en-GB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10" name="Connettore 2 9">
                <a:extLst>
                  <a:ext uri="{FF2B5EF4-FFF2-40B4-BE49-F238E27FC236}">
                    <a16:creationId xmlns:a16="http://schemas.microsoft.com/office/drawing/2014/main" id="{73EC85DD-AEC4-3E5D-91AE-9F19B0700AAA}"/>
                  </a:ext>
                </a:extLst>
              </p:cNvPr>
              <p:cNvCxnSpPr>
                <a:cxnSpLocks/>
                <a:stCxn id="9" idx="3"/>
                <a:endCxn id="5" idx="1"/>
              </p:cNvCxnSpPr>
              <p:nvPr/>
            </p:nvCxnSpPr>
            <p:spPr>
              <a:xfrm>
                <a:off x="1345753" y="3215227"/>
                <a:ext cx="679506" cy="2707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Rettangolo con angoli arrotondati 10">
                    <a:extLst>
                      <a:ext uri="{FF2B5EF4-FFF2-40B4-BE49-F238E27FC236}">
                        <a16:creationId xmlns:a16="http://schemas.microsoft.com/office/drawing/2014/main" id="{555A06C5-8D1C-934B-5485-6AD9B4175B32}"/>
                      </a:ext>
                    </a:extLst>
                  </p:cNvPr>
                  <p:cNvSpPr/>
                  <p:nvPr/>
                </p:nvSpPr>
                <p:spPr>
                  <a:xfrm>
                    <a:off x="3712427" y="2271217"/>
                    <a:ext cx="1668865" cy="564993"/>
                  </a:xfrm>
                  <a:prstGeom prst="roundRect">
                    <a:avLst/>
                  </a:prstGeom>
                  <a:no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GB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acc>
                      </m:oMath>
                    </a14:m>
                    <a:r>
                      <a:rPr lang="en-GB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, </a:t>
                    </a:r>
                    <a14:m>
                      <m:oMath xmlns:m="http://schemas.openxmlformats.org/officeDocument/2006/math">
                        <m:r>
                          <a:rPr lang="en-GB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𝑝</m:t>
                        </m:r>
                      </m:oMath>
                    </a14:m>
                    <a:r>
                      <a:rPr lang="en-GB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, </a:t>
                    </a:r>
                    <a14:m>
                      <m:oMath xmlns:m="http://schemas.openxmlformats.org/officeDocument/2006/math">
                        <m:r>
                          <a:rPr lang="en-GB" i="1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𝑘</m:t>
                        </m:r>
                      </m:oMath>
                    </a14:m>
                    <a:r>
                      <a:rPr lang="en-GB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, </a:t>
                    </a:r>
                    <a14:m>
                      <m:oMath xmlns:m="http://schemas.openxmlformats.org/officeDocument/2006/math">
                        <m:r>
                          <a:rPr lang="en-GB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a14:m>
                    <a:r>
                      <a:rPr lang="en-GB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and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𝑡</m:t>
                            </m:r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,</m:t>
                            </m:r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𝑚𝑜𝑑</m:t>
                            </m:r>
                          </m:sub>
                        </m:sSub>
                      </m:oMath>
                    </a14:m>
                    <a:endParaRPr lang="en-GB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11" name="Rettangolo con angoli arrotondati 10">
                    <a:extLst>
                      <a:ext uri="{FF2B5EF4-FFF2-40B4-BE49-F238E27FC236}">
                        <a16:creationId xmlns:a16="http://schemas.microsoft.com/office/drawing/2014/main" id="{555A06C5-8D1C-934B-5485-6AD9B4175B3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12427" y="2271217"/>
                    <a:ext cx="1668865" cy="564993"/>
                  </a:xfrm>
                  <a:prstGeom prst="round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381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Connettore 2 11">
                <a:extLst>
                  <a:ext uri="{FF2B5EF4-FFF2-40B4-BE49-F238E27FC236}">
                    <a16:creationId xmlns:a16="http://schemas.microsoft.com/office/drawing/2014/main" id="{6BAD0454-5C8B-EFB1-78E7-46EEEE0011B4}"/>
                  </a:ext>
                </a:extLst>
              </p:cNvPr>
              <p:cNvCxnSpPr>
                <a:cxnSpLocks/>
                <a:endCxn id="11" idx="1"/>
              </p:cNvCxnSpPr>
              <p:nvPr/>
            </p:nvCxnSpPr>
            <p:spPr>
              <a:xfrm flipV="1">
                <a:off x="3363522" y="2553714"/>
                <a:ext cx="348905" cy="1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Connettore 2 12">
                <a:extLst>
                  <a:ext uri="{FF2B5EF4-FFF2-40B4-BE49-F238E27FC236}">
                    <a16:creationId xmlns:a16="http://schemas.microsoft.com/office/drawing/2014/main" id="{5AD5AE1F-9F82-C761-CB8C-0850019D261D}"/>
                  </a:ext>
                </a:extLst>
              </p:cNvPr>
              <p:cNvCxnSpPr>
                <a:cxnSpLocks/>
                <a:stCxn id="11" idx="3"/>
              </p:cNvCxnSpPr>
              <p:nvPr/>
            </p:nvCxnSpPr>
            <p:spPr>
              <a:xfrm>
                <a:off x="5381292" y="2553714"/>
                <a:ext cx="365388" cy="1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Rettangolo con angoli arrotondati 14">
                <a:extLst>
                  <a:ext uri="{FF2B5EF4-FFF2-40B4-BE49-F238E27FC236}">
                    <a16:creationId xmlns:a16="http://schemas.microsoft.com/office/drawing/2014/main" id="{31227AFE-34D2-2930-5129-F7770D21FC7E}"/>
                  </a:ext>
                </a:extLst>
              </p:cNvPr>
              <p:cNvSpPr/>
              <p:nvPr/>
            </p:nvSpPr>
            <p:spPr>
              <a:xfrm>
                <a:off x="5746679" y="2271217"/>
                <a:ext cx="1668865" cy="3251867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GB" u="sng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Clustering pipeline</a:t>
                </a:r>
              </a:p>
            </p:txBody>
          </p:sp>
          <p:sp>
            <p:nvSpPr>
              <p:cNvPr id="16" name="Rettangolo con angoli arrotondati 15">
                <a:extLst>
                  <a:ext uri="{FF2B5EF4-FFF2-40B4-BE49-F238E27FC236}">
                    <a16:creationId xmlns:a16="http://schemas.microsoft.com/office/drawing/2014/main" id="{333692F7-4990-B1D7-345A-93E514EC6F96}"/>
                  </a:ext>
                </a:extLst>
              </p:cNvPr>
              <p:cNvSpPr/>
              <p:nvPr/>
            </p:nvSpPr>
            <p:spPr>
              <a:xfrm>
                <a:off x="6077794" y="2565433"/>
                <a:ext cx="1006634" cy="652499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Features preprocessing</a:t>
                </a:r>
              </a:p>
            </p:txBody>
          </p:sp>
          <p:sp>
            <p:nvSpPr>
              <p:cNvPr id="17" name="Rettangolo con angoli arrotondati 16">
                <a:extLst>
                  <a:ext uri="{FF2B5EF4-FFF2-40B4-BE49-F238E27FC236}">
                    <a16:creationId xmlns:a16="http://schemas.microsoft.com/office/drawing/2014/main" id="{4B406BD1-217F-B125-CDFF-B13BA5422FE5}"/>
                  </a:ext>
                </a:extLst>
              </p:cNvPr>
              <p:cNvSpPr/>
              <p:nvPr/>
            </p:nvSpPr>
            <p:spPr>
              <a:xfrm>
                <a:off x="6077794" y="3313819"/>
                <a:ext cx="1006634" cy="652499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Features selection</a:t>
                </a:r>
              </a:p>
            </p:txBody>
          </p:sp>
          <p:sp>
            <p:nvSpPr>
              <p:cNvPr id="18" name="Rettangolo con angoli arrotondati 17">
                <a:extLst>
                  <a:ext uri="{FF2B5EF4-FFF2-40B4-BE49-F238E27FC236}">
                    <a16:creationId xmlns:a16="http://schemas.microsoft.com/office/drawing/2014/main" id="{FA74873C-8902-9720-DFB1-24C02197A6F6}"/>
                  </a:ext>
                </a:extLst>
              </p:cNvPr>
              <p:cNvSpPr/>
              <p:nvPr/>
            </p:nvSpPr>
            <p:spPr>
              <a:xfrm>
                <a:off x="6014700" y="4062205"/>
                <a:ext cx="1132823" cy="652499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Hyperparameter setting</a:t>
                </a:r>
              </a:p>
            </p:txBody>
          </p:sp>
          <p:sp>
            <p:nvSpPr>
              <p:cNvPr id="19" name="Rettangolo con angoli arrotondati 18">
                <a:extLst>
                  <a:ext uri="{FF2B5EF4-FFF2-40B4-BE49-F238E27FC236}">
                    <a16:creationId xmlns:a16="http://schemas.microsoft.com/office/drawing/2014/main" id="{453D71A8-E7BB-1921-4D30-97976902953D}"/>
                  </a:ext>
                </a:extLst>
              </p:cNvPr>
              <p:cNvSpPr/>
              <p:nvPr/>
            </p:nvSpPr>
            <p:spPr>
              <a:xfrm>
                <a:off x="6077794" y="4810591"/>
                <a:ext cx="1006634" cy="652499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Model train</a:t>
                </a:r>
              </a:p>
            </p:txBody>
          </p:sp>
          <p:cxnSp>
            <p:nvCxnSpPr>
              <p:cNvPr id="20" name="Connettore 2 19">
                <a:extLst>
                  <a:ext uri="{FF2B5EF4-FFF2-40B4-BE49-F238E27FC236}">
                    <a16:creationId xmlns:a16="http://schemas.microsoft.com/office/drawing/2014/main" id="{6C1B457C-E563-4B0C-9926-606A86E71A10}"/>
                  </a:ext>
                </a:extLst>
              </p:cNvPr>
              <p:cNvCxnSpPr>
                <a:cxnSpLocks/>
                <a:stCxn id="5" idx="2"/>
                <a:endCxn id="6" idx="0"/>
              </p:cNvCxnSpPr>
              <p:nvPr/>
            </p:nvCxnSpPr>
            <p:spPr>
              <a:xfrm>
                <a:off x="2528576" y="3544182"/>
                <a:ext cx="515" cy="252194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Connettore 2 22">
                <a:extLst>
                  <a:ext uri="{FF2B5EF4-FFF2-40B4-BE49-F238E27FC236}">
                    <a16:creationId xmlns:a16="http://schemas.microsoft.com/office/drawing/2014/main" id="{F8642B76-D2E4-5D09-3B7D-3968A83C3C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1219" y="3796376"/>
                <a:ext cx="94338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Connettore 2 24">
                <a:extLst>
                  <a:ext uri="{FF2B5EF4-FFF2-40B4-BE49-F238E27FC236}">
                    <a16:creationId xmlns:a16="http://schemas.microsoft.com/office/drawing/2014/main" id="{F3105B1A-C803-EBE8-BCF3-F8C25BEB05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771775" y="4309881"/>
                <a:ext cx="104775" cy="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Connettore 2 26">
                <a:extLst>
                  <a:ext uri="{FF2B5EF4-FFF2-40B4-BE49-F238E27FC236}">
                    <a16:creationId xmlns:a16="http://schemas.microsoft.com/office/drawing/2014/main" id="{59B39CE3-F23C-1470-3E2C-A3347F33ECE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36452" y="4281488"/>
                <a:ext cx="100429" cy="31438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Connettore 2 28">
                <a:extLst>
                  <a:ext uri="{FF2B5EF4-FFF2-40B4-BE49-F238E27FC236}">
                    <a16:creationId xmlns:a16="http://schemas.microsoft.com/office/drawing/2014/main" id="{8825A6C6-43F1-2E11-316F-940DB52F3C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31893" y="3796376"/>
                <a:ext cx="89836" cy="37437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Connettore 2 30">
                <a:extLst>
                  <a:ext uri="{FF2B5EF4-FFF2-40B4-BE49-F238E27FC236}">
                    <a16:creationId xmlns:a16="http://schemas.microsoft.com/office/drawing/2014/main" id="{A0BFA885-65A7-3AE9-0947-7A46187A2479}"/>
                  </a:ext>
                </a:extLst>
              </p:cNvPr>
              <p:cNvCxnSpPr>
                <a:cxnSpLocks/>
                <a:stCxn id="16" idx="2"/>
                <a:endCxn id="17" idx="0"/>
              </p:cNvCxnSpPr>
              <p:nvPr/>
            </p:nvCxnSpPr>
            <p:spPr>
              <a:xfrm>
                <a:off x="6581111" y="3217932"/>
                <a:ext cx="0" cy="95887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Connettore 2 33">
                <a:extLst>
                  <a:ext uri="{FF2B5EF4-FFF2-40B4-BE49-F238E27FC236}">
                    <a16:creationId xmlns:a16="http://schemas.microsoft.com/office/drawing/2014/main" id="{DB25A246-D1FD-AA32-F56D-9785502429EA}"/>
                  </a:ext>
                </a:extLst>
              </p:cNvPr>
              <p:cNvCxnSpPr>
                <a:cxnSpLocks/>
                <a:stCxn id="17" idx="2"/>
                <a:endCxn id="18" idx="0"/>
              </p:cNvCxnSpPr>
              <p:nvPr/>
            </p:nvCxnSpPr>
            <p:spPr>
              <a:xfrm>
                <a:off x="6581111" y="3966318"/>
                <a:ext cx="1" cy="95887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Connettore 2 36">
                <a:extLst>
                  <a:ext uri="{FF2B5EF4-FFF2-40B4-BE49-F238E27FC236}">
                    <a16:creationId xmlns:a16="http://schemas.microsoft.com/office/drawing/2014/main" id="{AFB0B6B9-CAC1-DD8C-0667-E5324FADD1ED}"/>
                  </a:ext>
                </a:extLst>
              </p:cNvPr>
              <p:cNvCxnSpPr>
                <a:cxnSpLocks/>
                <a:stCxn id="18" idx="2"/>
                <a:endCxn id="19" idx="0"/>
              </p:cNvCxnSpPr>
              <p:nvPr/>
            </p:nvCxnSpPr>
            <p:spPr>
              <a:xfrm flipH="1">
                <a:off x="6581111" y="4714704"/>
                <a:ext cx="1" cy="95887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47" name="Rettangolo con angoli arrotondati 46">
              <a:extLst>
                <a:ext uri="{FF2B5EF4-FFF2-40B4-BE49-F238E27FC236}">
                  <a16:creationId xmlns:a16="http://schemas.microsoft.com/office/drawing/2014/main" id="{2AD317B1-AF5A-F3CE-88FF-3DBF3E21183B}"/>
                </a:ext>
              </a:extLst>
            </p:cNvPr>
            <p:cNvSpPr/>
            <p:nvPr/>
          </p:nvSpPr>
          <p:spPr>
            <a:xfrm>
              <a:off x="12831250" y="1113910"/>
              <a:ext cx="1691763" cy="895988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Clustering labels and model</a:t>
              </a:r>
              <a:endParaRPr lang="en-GB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54" name="Connettore 2 53">
              <a:extLst>
                <a:ext uri="{FF2B5EF4-FFF2-40B4-BE49-F238E27FC236}">
                  <a16:creationId xmlns:a16="http://schemas.microsoft.com/office/drawing/2014/main" id="{F74A9653-597C-5535-757A-E4812E742801}"/>
                </a:ext>
              </a:extLst>
            </p:cNvPr>
            <p:cNvCxnSpPr>
              <a:cxnSpLocks/>
              <a:endCxn id="47" idx="1"/>
            </p:cNvCxnSpPr>
            <p:nvPr/>
          </p:nvCxnSpPr>
          <p:spPr>
            <a:xfrm flipV="1">
              <a:off x="12227285" y="1561904"/>
              <a:ext cx="603965" cy="10503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5723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uppo 78">
            <a:extLst>
              <a:ext uri="{FF2B5EF4-FFF2-40B4-BE49-F238E27FC236}">
                <a16:creationId xmlns:a16="http://schemas.microsoft.com/office/drawing/2014/main" id="{56619556-27E0-6330-24D0-D06CFA44D939}"/>
              </a:ext>
            </a:extLst>
          </p:cNvPr>
          <p:cNvGrpSpPr/>
          <p:nvPr/>
        </p:nvGrpSpPr>
        <p:grpSpPr>
          <a:xfrm>
            <a:off x="0" y="1067148"/>
            <a:ext cx="8121944" cy="5148826"/>
            <a:chOff x="0" y="1067148"/>
            <a:chExt cx="8121944" cy="5148826"/>
          </a:xfrm>
        </p:grpSpPr>
        <p:sp>
          <p:nvSpPr>
            <p:cNvPr id="23" name="Rettangolo con angoli arrotondati 22">
              <a:extLst>
                <a:ext uri="{FF2B5EF4-FFF2-40B4-BE49-F238E27FC236}">
                  <a16:creationId xmlns:a16="http://schemas.microsoft.com/office/drawing/2014/main" id="{9B46281A-B21E-4068-444D-E5612ACB6F79}"/>
                </a:ext>
              </a:extLst>
            </p:cNvPr>
            <p:cNvSpPr/>
            <p:nvPr/>
          </p:nvSpPr>
          <p:spPr>
            <a:xfrm>
              <a:off x="0" y="1067148"/>
              <a:ext cx="1691763" cy="895988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RANS Simulation</a:t>
              </a:r>
            </a:p>
          </p:txBody>
        </p:sp>
        <p:cxnSp>
          <p:nvCxnSpPr>
            <p:cNvPr id="27" name="Connettore 2 26">
              <a:extLst>
                <a:ext uri="{FF2B5EF4-FFF2-40B4-BE49-F238E27FC236}">
                  <a16:creationId xmlns:a16="http://schemas.microsoft.com/office/drawing/2014/main" id="{52B42E30-FD23-9A67-C69A-F97DFBE0C8B8}"/>
                </a:ext>
              </a:extLst>
            </p:cNvPr>
            <p:cNvCxnSpPr>
              <a:cxnSpLocks/>
              <a:stCxn id="23" idx="3"/>
            </p:cNvCxnSpPr>
            <p:nvPr/>
          </p:nvCxnSpPr>
          <p:spPr>
            <a:xfrm>
              <a:off x="1691763" y="1515142"/>
              <a:ext cx="632496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ttangolo con angoli arrotondati 27">
              <a:extLst>
                <a:ext uri="{FF2B5EF4-FFF2-40B4-BE49-F238E27FC236}">
                  <a16:creationId xmlns:a16="http://schemas.microsoft.com/office/drawing/2014/main" id="{3B71BA07-77F8-721B-2D66-3E9C9E63BB3A}"/>
                </a:ext>
              </a:extLst>
            </p:cNvPr>
            <p:cNvSpPr/>
            <p:nvPr/>
          </p:nvSpPr>
          <p:spPr>
            <a:xfrm>
              <a:off x="0" y="2249227"/>
              <a:ext cx="1691763" cy="895988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LES Simulation</a:t>
              </a:r>
              <a:endParaRPr lang="en-GB" noProof="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6" name="Rettangolo con angoli arrotondati 45">
              <a:extLst>
                <a:ext uri="{FF2B5EF4-FFF2-40B4-BE49-F238E27FC236}">
                  <a16:creationId xmlns:a16="http://schemas.microsoft.com/office/drawing/2014/main" id="{B5E2AF2E-B925-DE31-ECE0-7F8CBDA6CFCB}"/>
                </a:ext>
              </a:extLst>
            </p:cNvPr>
            <p:cNvSpPr/>
            <p:nvPr/>
          </p:nvSpPr>
          <p:spPr>
            <a:xfrm>
              <a:off x="8063" y="3429000"/>
              <a:ext cx="1691763" cy="895988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Clustering labels and model</a:t>
              </a:r>
              <a:endParaRPr lang="en-GB" noProof="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4" name="Gruppo 63">
              <a:extLst>
                <a:ext uri="{FF2B5EF4-FFF2-40B4-BE49-F238E27FC236}">
                  <a16:creationId xmlns:a16="http://schemas.microsoft.com/office/drawing/2014/main" id="{27ED0B38-B961-4758-913F-C66A10041397}"/>
                </a:ext>
              </a:extLst>
            </p:cNvPr>
            <p:cNvGrpSpPr/>
            <p:nvPr/>
          </p:nvGrpSpPr>
          <p:grpSpPr>
            <a:xfrm>
              <a:off x="2324259" y="1067148"/>
              <a:ext cx="3473426" cy="5148826"/>
              <a:chOff x="2331592" y="4682181"/>
              <a:chExt cx="2278930" cy="2311660"/>
            </a:xfrm>
          </p:grpSpPr>
          <p:sp>
            <p:nvSpPr>
              <p:cNvPr id="57" name="Rettangolo con angoli arrotondati 56">
                <a:extLst>
                  <a:ext uri="{FF2B5EF4-FFF2-40B4-BE49-F238E27FC236}">
                    <a16:creationId xmlns:a16="http://schemas.microsoft.com/office/drawing/2014/main" id="{F604071A-3525-D767-38DF-71F7459B7881}"/>
                  </a:ext>
                </a:extLst>
              </p:cNvPr>
              <p:cNvSpPr/>
              <p:nvPr/>
            </p:nvSpPr>
            <p:spPr>
              <a:xfrm>
                <a:off x="2331592" y="4682181"/>
                <a:ext cx="2278930" cy="2311660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GB" u="sng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MLP creation and optimization</a:t>
                </a:r>
              </a:p>
            </p:txBody>
          </p:sp>
          <p:sp>
            <p:nvSpPr>
              <p:cNvPr id="58" name="Rettangolo con angoli arrotondati 57">
                <a:extLst>
                  <a:ext uri="{FF2B5EF4-FFF2-40B4-BE49-F238E27FC236}">
                    <a16:creationId xmlns:a16="http://schemas.microsoft.com/office/drawing/2014/main" id="{8B73431B-5E34-C6A2-264B-B5F7FE9B2171}"/>
                  </a:ext>
                </a:extLst>
              </p:cNvPr>
              <p:cNvSpPr/>
              <p:nvPr/>
            </p:nvSpPr>
            <p:spPr>
              <a:xfrm>
                <a:off x="2846544" y="5803767"/>
                <a:ext cx="1249026" cy="468583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 err="1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Optuna</a:t>
                </a:r>
                <a:r>
                  <a:rPr lang="en-GB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optimization</a:t>
                </a:r>
              </a:p>
            </p:txBody>
          </p:sp>
          <p:sp>
            <p:nvSpPr>
              <p:cNvPr id="59" name="Rettangolo con angoli arrotondati 58">
                <a:extLst>
                  <a:ext uri="{FF2B5EF4-FFF2-40B4-BE49-F238E27FC236}">
                    <a16:creationId xmlns:a16="http://schemas.microsoft.com/office/drawing/2014/main" id="{C3B88473-38CC-01C9-7A03-3913EB88B3E6}"/>
                  </a:ext>
                </a:extLst>
              </p:cNvPr>
              <p:cNvSpPr/>
              <p:nvPr/>
            </p:nvSpPr>
            <p:spPr>
              <a:xfrm>
                <a:off x="2846544" y="6431479"/>
                <a:ext cx="1249026" cy="468583"/>
              </a:xfrm>
              <a:prstGeom prst="roundRect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noProof="0" dirty="0">
                    <a:solidFill>
                      <a:schemeClr val="tx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Model training and validation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Rettangolo con angoli arrotondati 59">
                    <a:extLst>
                      <a:ext uri="{FF2B5EF4-FFF2-40B4-BE49-F238E27FC236}">
                        <a16:creationId xmlns:a16="http://schemas.microsoft.com/office/drawing/2014/main" id="{16EDE50D-D2DB-AF18-6F6D-5D41E24AFDFA}"/>
                      </a:ext>
                    </a:extLst>
                  </p:cNvPr>
                  <p:cNvSpPr/>
                  <p:nvPr/>
                </p:nvSpPr>
                <p:spPr>
                  <a:xfrm>
                    <a:off x="2446528" y="5197831"/>
                    <a:ext cx="2049058" cy="468583"/>
                  </a:xfrm>
                  <a:prstGeom prst="roundRect">
                    <a:avLst/>
                  </a:prstGeom>
                  <a:noFill/>
                  <a:ln w="38100">
                    <a:solidFill>
                      <a:srgbClr val="0070C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Target function definition 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it-IT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m:rPr>
                            <m:sty m:val="p"/>
                          </m:rPr>
                          <a:rPr lang="it-IT" b="0" i="0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  <m:r>
                          <a:rPr lang="it-IT" b="0" i="0" noProof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it-IT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𝑚𝑜𝑑</m:t>
                            </m:r>
                          </m:sub>
                        </m:sSub>
                        <m:r>
                          <a:rPr lang="en-GB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GB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𝑒𝑞</m:t>
                            </m:r>
                          </m:sub>
                        </m:sSub>
                      </m:oMath>
                    </a14:m>
                    <a:endParaRPr lang="en-GB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60" name="Rettangolo con angoli arrotondati 59">
                    <a:extLst>
                      <a:ext uri="{FF2B5EF4-FFF2-40B4-BE49-F238E27FC236}">
                        <a16:creationId xmlns:a16="http://schemas.microsoft.com/office/drawing/2014/main" id="{16EDE50D-D2DB-AF18-6F6D-5D41E24AFDF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46528" y="5197831"/>
                    <a:ext cx="2049058" cy="468583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38100">
                    <a:solidFill>
                      <a:srgbClr val="0070C0"/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1" name="Connettore 2 60">
                <a:extLst>
                  <a:ext uri="{FF2B5EF4-FFF2-40B4-BE49-F238E27FC236}">
                    <a16:creationId xmlns:a16="http://schemas.microsoft.com/office/drawing/2014/main" id="{D656C603-8CA4-F2DC-5469-9D4EEEDD4930}"/>
                  </a:ext>
                </a:extLst>
              </p:cNvPr>
              <p:cNvCxnSpPr>
                <a:cxnSpLocks/>
                <a:stCxn id="60" idx="2"/>
                <a:endCxn id="58" idx="0"/>
              </p:cNvCxnSpPr>
              <p:nvPr/>
            </p:nvCxnSpPr>
            <p:spPr>
              <a:xfrm flipH="1">
                <a:off x="3471056" y="5666414"/>
                <a:ext cx="1" cy="137353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2" name="Connettore 2 61">
                <a:extLst>
                  <a:ext uri="{FF2B5EF4-FFF2-40B4-BE49-F238E27FC236}">
                    <a16:creationId xmlns:a16="http://schemas.microsoft.com/office/drawing/2014/main" id="{BBAB986D-3EAA-73BB-D27A-1B3620730E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98346" y="6272351"/>
                <a:ext cx="0" cy="159128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nettore 2 62">
                <a:extLst>
                  <a:ext uri="{FF2B5EF4-FFF2-40B4-BE49-F238E27FC236}">
                    <a16:creationId xmlns:a16="http://schemas.microsoft.com/office/drawing/2014/main" id="{7C13F022-9E72-4B24-7A00-9B75319596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43768" y="6272351"/>
                <a:ext cx="0" cy="159128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9" name="Connettore a gomito 68">
              <a:extLst>
                <a:ext uri="{FF2B5EF4-FFF2-40B4-BE49-F238E27FC236}">
                  <a16:creationId xmlns:a16="http://schemas.microsoft.com/office/drawing/2014/main" id="{47CAA6F0-DA26-1EDE-4759-4BC0F627C6C2}"/>
                </a:ext>
              </a:extLst>
            </p:cNvPr>
            <p:cNvCxnSpPr>
              <a:stCxn id="28" idx="3"/>
            </p:cNvCxnSpPr>
            <p:nvPr/>
          </p:nvCxnSpPr>
          <p:spPr>
            <a:xfrm flipV="1">
              <a:off x="1691763" y="1515142"/>
              <a:ext cx="282952" cy="1182079"/>
            </a:xfrm>
            <a:prstGeom prst="bentConnector2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ttore a gomito 69">
              <a:extLst>
                <a:ext uri="{FF2B5EF4-FFF2-40B4-BE49-F238E27FC236}">
                  <a16:creationId xmlns:a16="http://schemas.microsoft.com/office/drawing/2014/main" id="{34D24783-421D-D4C0-2DA7-CAF03BB5C87D}"/>
                </a:ext>
              </a:extLst>
            </p:cNvPr>
            <p:cNvCxnSpPr>
              <a:cxnSpLocks/>
              <a:stCxn id="46" idx="3"/>
            </p:cNvCxnSpPr>
            <p:nvPr/>
          </p:nvCxnSpPr>
          <p:spPr>
            <a:xfrm flipV="1">
              <a:off x="1699826" y="1515141"/>
              <a:ext cx="274889" cy="2361853"/>
            </a:xfrm>
            <a:prstGeom prst="bentConnector2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ttangolo con angoli arrotondati 73">
              <a:extLst>
                <a:ext uri="{FF2B5EF4-FFF2-40B4-BE49-F238E27FC236}">
                  <a16:creationId xmlns:a16="http://schemas.microsoft.com/office/drawing/2014/main" id="{161AC0B0-AE61-A017-3531-8A0D22A52E2B}"/>
                </a:ext>
              </a:extLst>
            </p:cNvPr>
            <p:cNvSpPr/>
            <p:nvPr/>
          </p:nvSpPr>
          <p:spPr>
            <a:xfrm>
              <a:off x="6430181" y="1067148"/>
              <a:ext cx="1691763" cy="895988"/>
            </a:xfrm>
            <a:prstGeom prst="round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noProof="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MLP model</a:t>
              </a:r>
            </a:p>
          </p:txBody>
        </p:sp>
        <p:cxnSp>
          <p:nvCxnSpPr>
            <p:cNvPr id="75" name="Connettore 2 74">
              <a:extLst>
                <a:ext uri="{FF2B5EF4-FFF2-40B4-BE49-F238E27FC236}">
                  <a16:creationId xmlns:a16="http://schemas.microsoft.com/office/drawing/2014/main" id="{5B5C3DED-07C7-D1AF-3C07-751669817CF0}"/>
                </a:ext>
              </a:extLst>
            </p:cNvPr>
            <p:cNvCxnSpPr>
              <a:cxnSpLocks/>
              <a:endCxn id="74" idx="1"/>
            </p:cNvCxnSpPr>
            <p:nvPr/>
          </p:nvCxnSpPr>
          <p:spPr>
            <a:xfrm>
              <a:off x="5797685" y="1515142"/>
              <a:ext cx="632496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333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o 3">
            <a:extLst>
              <a:ext uri="{FF2B5EF4-FFF2-40B4-BE49-F238E27FC236}">
                <a16:creationId xmlns:a16="http://schemas.microsoft.com/office/drawing/2014/main" id="{A4DC1FED-80CB-3504-67D7-40907EE21BBB}"/>
              </a:ext>
            </a:extLst>
          </p:cNvPr>
          <p:cNvGrpSpPr>
            <a:grpSpLocks noChangeAspect="1"/>
          </p:cNvGrpSpPr>
          <p:nvPr/>
        </p:nvGrpSpPr>
        <p:grpSpPr>
          <a:xfrm>
            <a:off x="-5397768" y="1073427"/>
            <a:ext cx="17483011" cy="3909391"/>
            <a:chOff x="511172" y="27421877"/>
            <a:chExt cx="20566939" cy="4598990"/>
          </a:xfrm>
        </p:grpSpPr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44D698D8-B0E4-0640-F96F-4E86C6EA470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11172" y="27421877"/>
              <a:ext cx="20566939" cy="4598990"/>
              <a:chOff x="511172" y="28690248"/>
              <a:chExt cx="20566939" cy="459899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Rettangolo con angoli arrotondati 13">
                    <a:extLst>
                      <a:ext uri="{FF2B5EF4-FFF2-40B4-BE49-F238E27FC236}">
                        <a16:creationId xmlns:a16="http://schemas.microsoft.com/office/drawing/2014/main" id="{D95AC9EF-9FE1-B946-7A84-6DFCD89DCEC2}"/>
                      </a:ext>
                    </a:extLst>
                  </p:cNvPr>
                  <p:cNvSpPr/>
                  <p:nvPr/>
                </p:nvSpPr>
                <p:spPr>
                  <a:xfrm>
                    <a:off x="511172" y="28690248"/>
                    <a:ext cx="20566939" cy="4598990"/>
                  </a:xfrm>
                  <a:prstGeom prst="roundRect">
                    <a:avLst/>
                  </a:prstGeom>
                  <a:noFill/>
                  <a:ln w="38100"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pPr algn="ctr"/>
                    <a:r>
                      <a:rPr lang="en-GB" u="sng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PIMPLE solver in RANS k-</a:t>
                    </a:r>
                    <a14:m>
                      <m:oMath xmlns:m="http://schemas.openxmlformats.org/officeDocument/2006/math">
                        <m:r>
                          <a:rPr lang="en-GB" b="0" i="1" u="sng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oMath>
                    </a14:m>
                    <a:r>
                      <a:rPr lang="en-GB" u="sng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-SST framework</a:t>
                    </a:r>
                  </a:p>
                </p:txBody>
              </p:sp>
            </mc:Choice>
            <mc:Fallback>
              <p:sp>
                <p:nvSpPr>
                  <p:cNvPr id="14" name="Rettangolo con angoli arrotondati 13">
                    <a:extLst>
                      <a:ext uri="{FF2B5EF4-FFF2-40B4-BE49-F238E27FC236}">
                        <a16:creationId xmlns:a16="http://schemas.microsoft.com/office/drawing/2014/main" id="{D95AC9EF-9FE1-B946-7A84-6DFCD89DCEC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172" y="28690248"/>
                    <a:ext cx="20566939" cy="4598990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38100">
                    <a:prstDash val="sysDash"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5" name="Gruppo 14">
                <a:extLst>
                  <a:ext uri="{FF2B5EF4-FFF2-40B4-BE49-F238E27FC236}">
                    <a16:creationId xmlns:a16="http://schemas.microsoft.com/office/drawing/2014/main" id="{7376BE82-C33D-4552-0AB6-26F28C27B7CF}"/>
                  </a:ext>
                </a:extLst>
              </p:cNvPr>
              <p:cNvGrpSpPr/>
              <p:nvPr/>
            </p:nvGrpSpPr>
            <p:grpSpPr>
              <a:xfrm>
                <a:off x="617025" y="29378946"/>
                <a:ext cx="10156244" cy="2257745"/>
                <a:chOff x="597693" y="29383461"/>
                <a:chExt cx="10156244" cy="2257745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3" name="Rettangolo con angoli arrotondati 42">
                      <a:extLst>
                        <a:ext uri="{FF2B5EF4-FFF2-40B4-BE49-F238E27FC236}">
                          <a16:creationId xmlns:a16="http://schemas.microsoft.com/office/drawing/2014/main" id="{8A3F3021-BACD-8A53-EC70-2B8520DD27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314" y="30290885"/>
                      <a:ext cx="1534013" cy="1256797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GB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oMath>
                      </a14:m>
                      <a:r>
                        <a:rPr lang="en-GB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and p calculation</a:t>
                      </a:r>
                    </a:p>
                  </p:txBody>
                </p:sp>
              </mc:Choice>
              <mc:Fallback>
                <p:sp>
                  <p:nvSpPr>
                    <p:cNvPr id="43" name="Rettangolo con angoli arrotondati 42">
                      <a:extLst>
                        <a:ext uri="{FF2B5EF4-FFF2-40B4-BE49-F238E27FC236}">
                          <a16:creationId xmlns:a16="http://schemas.microsoft.com/office/drawing/2014/main" id="{8A3F3021-BACD-8A53-EC70-2B8520DD279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5314" y="30290885"/>
                      <a:ext cx="1534013" cy="1256797"/>
                    </a:xfrm>
                    <a:prstGeom prst="roundRect">
                      <a:avLst/>
                    </a:prstGeom>
                    <a:blipFill>
                      <a:blip r:embed="rId3"/>
                      <a:stretch>
                        <a:fillRect b="-2210"/>
                      </a:stretch>
                    </a:blipFill>
                    <a:ln w="381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4" name="Rettangolo con angoli arrotondati 43">
                      <a:extLst>
                        <a:ext uri="{FF2B5EF4-FFF2-40B4-BE49-F238E27FC236}">
                          <a16:creationId xmlns:a16="http://schemas.microsoft.com/office/drawing/2014/main" id="{3C9A95A9-2CBD-A564-F04F-227E390E8A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55854" y="30290885"/>
                      <a:ext cx="1571625" cy="1256797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k-</a:t>
                      </a:r>
                      <a14:m>
                        <m:oMath xmlns:m="http://schemas.openxmlformats.org/officeDocument/2006/math">
                          <m:r>
                            <a:rPr lang="en-GB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oMath>
                      </a14:m>
                      <a:r>
                        <a:rPr lang="en-GB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calculation </a:t>
                      </a:r>
                    </a:p>
                  </p:txBody>
                </p:sp>
              </mc:Choice>
              <mc:Fallback>
                <p:sp>
                  <p:nvSpPr>
                    <p:cNvPr id="44" name="Rettangolo con angoli arrotondati 43">
                      <a:extLst>
                        <a:ext uri="{FF2B5EF4-FFF2-40B4-BE49-F238E27FC236}">
                          <a16:creationId xmlns:a16="http://schemas.microsoft.com/office/drawing/2014/main" id="{3C9A95A9-2CBD-A564-F04F-227E390E8A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55854" y="30290885"/>
                      <a:ext cx="1571625" cy="1256797"/>
                    </a:xfrm>
                    <a:prstGeom prst="roundRect">
                      <a:avLst/>
                    </a:prstGeom>
                    <a:blipFill>
                      <a:blip r:embed="rId4"/>
                      <a:stretch>
                        <a:fillRect b="-552"/>
                      </a:stretch>
                    </a:blipFill>
                    <a:ln w="381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5" name="Rettangolo con angoli arrotondati 44">
                      <a:extLst>
                        <a:ext uri="{FF2B5EF4-FFF2-40B4-BE49-F238E27FC236}">
                          <a16:creationId xmlns:a16="http://schemas.microsoft.com/office/drawing/2014/main" id="{6B5B02F5-6AE5-1E66-BE4F-473192B8DB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64008" y="30290885"/>
                      <a:ext cx="1571626" cy="1256797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r>
                        <a:rPr lang="en-GB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standard calculation</a:t>
                      </a:r>
                    </a:p>
                  </p:txBody>
                </p:sp>
              </mc:Choice>
              <mc:Fallback>
                <p:sp>
                  <p:nvSpPr>
                    <p:cNvPr id="45" name="Rettangolo con angoli arrotondati 44">
                      <a:extLst>
                        <a:ext uri="{FF2B5EF4-FFF2-40B4-BE49-F238E27FC236}">
                          <a16:creationId xmlns:a16="http://schemas.microsoft.com/office/drawing/2014/main" id="{6B5B02F5-6AE5-1E66-BE4F-473192B8DBD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064008" y="30290885"/>
                      <a:ext cx="1571626" cy="1256797"/>
                    </a:xfrm>
                    <a:prstGeom prst="roundRect">
                      <a:avLst/>
                    </a:prstGeom>
                    <a:blipFill>
                      <a:blip r:embed="rId5"/>
                      <a:stretch>
                        <a:fillRect b="-13260"/>
                      </a:stretch>
                    </a:blipFill>
                    <a:ln w="381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" name="Rettangolo con angoli arrotondati 45">
                      <a:extLst>
                        <a:ext uri="{FF2B5EF4-FFF2-40B4-BE49-F238E27FC236}">
                          <a16:creationId xmlns:a16="http://schemas.microsoft.com/office/drawing/2014/main" id="{0A7D220B-002A-3E29-83BA-F6CF25DB4E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44312" y="29430210"/>
                      <a:ext cx="1571626" cy="772348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b="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Back-</a:t>
                      </a:r>
                      <a:r>
                        <a:rPr lang="en-GB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 of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endParaRPr lang="en-GB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46" name="Rettangolo con angoli arrotondati 45">
                      <a:extLst>
                        <a:ext uri="{FF2B5EF4-FFF2-40B4-BE49-F238E27FC236}">
                          <a16:creationId xmlns:a16="http://schemas.microsoft.com/office/drawing/2014/main" id="{0A7D220B-002A-3E29-83BA-F6CF25DB4EE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44312" y="29430210"/>
                      <a:ext cx="1571626" cy="772348"/>
                    </a:xfrm>
                    <a:prstGeom prst="roundRect">
                      <a:avLst/>
                    </a:prstGeom>
                    <a:blipFill>
                      <a:blip r:embed="rId6"/>
                      <a:stretch>
                        <a:fillRect t="-885" r="-4444"/>
                      </a:stretch>
                    </a:blipFill>
                    <a:ln w="38100"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7" name="Rettangolo con angoli arrotondati 46">
                  <a:extLst>
                    <a:ext uri="{FF2B5EF4-FFF2-40B4-BE49-F238E27FC236}">
                      <a16:creationId xmlns:a16="http://schemas.microsoft.com/office/drawing/2014/main" id="{D1E3BB1F-03AB-8E73-760B-8146CF0A07D3}"/>
                    </a:ext>
                  </a:extLst>
                </p:cNvPr>
                <p:cNvSpPr/>
                <p:nvPr/>
              </p:nvSpPr>
              <p:spPr>
                <a:xfrm>
                  <a:off x="6491140" y="30290885"/>
                  <a:ext cx="1571626" cy="1256797"/>
                </a:xfrm>
                <a:prstGeom prst="roundRect">
                  <a:avLst/>
                </a:prstGeom>
                <a:no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Clustering analysis</a:t>
                  </a:r>
                </a:p>
              </p:txBody>
            </p:sp>
            <p:sp>
              <p:nvSpPr>
                <p:cNvPr id="48" name="Rettangolo con angoli arrotondati 47">
                  <a:extLst>
                    <a:ext uri="{FF2B5EF4-FFF2-40B4-BE49-F238E27FC236}">
                      <a16:creationId xmlns:a16="http://schemas.microsoft.com/office/drawing/2014/main" id="{EEB04906-5EB2-14E0-600A-488AA7815FA1}"/>
                    </a:ext>
                  </a:extLst>
                </p:cNvPr>
                <p:cNvSpPr/>
                <p:nvPr/>
              </p:nvSpPr>
              <p:spPr>
                <a:xfrm>
                  <a:off x="8204130" y="30290884"/>
                  <a:ext cx="1571626" cy="1256797"/>
                </a:xfrm>
                <a:prstGeom prst="roundRect">
                  <a:avLst/>
                </a:prstGeom>
                <a:noFill/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MLP regression </a:t>
                  </a: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9" name="Rettangolo con angoli arrotondati 48">
                      <a:extLst>
                        <a:ext uri="{FF2B5EF4-FFF2-40B4-BE49-F238E27FC236}">
                          <a16:creationId xmlns:a16="http://schemas.microsoft.com/office/drawing/2014/main" id="{D129EFFA-EED8-6B64-C2AA-4C54028539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18880" y="30290884"/>
                      <a:ext cx="725284" cy="1256797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GB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𝑀𝐿</m:t>
                                    </m:r>
                                  </m:sub>
                                </m:sSub>
                              </m:sub>
                            </m:sSub>
                          </m:oMath>
                        </m:oMathPara>
                      </a14:m>
                      <a:endParaRPr lang="en-GB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49" name="Rettangolo con angoli arrotondati 48">
                      <a:extLst>
                        <a:ext uri="{FF2B5EF4-FFF2-40B4-BE49-F238E27FC236}">
                          <a16:creationId xmlns:a16="http://schemas.microsoft.com/office/drawing/2014/main" id="{D129EFFA-EED8-6B64-C2AA-4C540285398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918880" y="30290884"/>
                      <a:ext cx="725284" cy="1256797"/>
                    </a:xfrm>
                    <a:prstGeom prst="round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38100">
                      <a:solidFill>
                        <a:srgbClr val="0070C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50" name="Rettangolo con angoli arrotondati 49">
                  <a:extLst>
                    <a:ext uri="{FF2B5EF4-FFF2-40B4-BE49-F238E27FC236}">
                      <a16:creationId xmlns:a16="http://schemas.microsoft.com/office/drawing/2014/main" id="{A6781B3E-6B10-6E40-4320-D576B5AAA40E}"/>
                    </a:ext>
                  </a:extLst>
                </p:cNvPr>
                <p:cNvSpPr/>
                <p:nvPr/>
              </p:nvSpPr>
              <p:spPr>
                <a:xfrm>
                  <a:off x="597693" y="29383461"/>
                  <a:ext cx="10156244" cy="2257745"/>
                </a:xfrm>
                <a:prstGeom prst="roundRect">
                  <a:avLst/>
                </a:prstGeom>
                <a:noFill/>
                <a:ln w="38100">
                  <a:solidFill>
                    <a:schemeClr val="tx1"/>
                  </a:solidFill>
                  <a:prstDash val="dash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grpSp>
            <p:nvGrpSpPr>
              <p:cNvPr id="16" name="Gruppo 15">
                <a:extLst>
                  <a:ext uri="{FF2B5EF4-FFF2-40B4-BE49-F238E27FC236}">
                    <a16:creationId xmlns:a16="http://schemas.microsoft.com/office/drawing/2014/main" id="{BFDB66B1-CF6F-6047-7B02-6009A5D7E436}"/>
                  </a:ext>
                </a:extLst>
              </p:cNvPr>
              <p:cNvGrpSpPr/>
              <p:nvPr/>
            </p:nvGrpSpPr>
            <p:grpSpPr>
              <a:xfrm>
                <a:off x="11043365" y="29334781"/>
                <a:ext cx="9953219" cy="3380465"/>
                <a:chOff x="-1139098" y="29383459"/>
                <a:chExt cx="9953219" cy="3380465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5" name="Rettangolo con angoli arrotondati 34">
                      <a:extLst>
                        <a:ext uri="{FF2B5EF4-FFF2-40B4-BE49-F238E27FC236}">
                          <a16:creationId xmlns:a16="http://schemas.microsoft.com/office/drawing/2014/main" id="{E46752B5-2168-8D82-CB42-17D6B5A271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1068519" y="30353244"/>
                      <a:ext cx="1541674" cy="1256797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GB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oMath>
                      </a14:m>
                      <a:r>
                        <a:rPr lang="en-GB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and p calculation</a:t>
                      </a:r>
                    </a:p>
                  </p:txBody>
                </p:sp>
              </mc:Choice>
              <mc:Fallback>
                <p:sp>
                  <p:nvSpPr>
                    <p:cNvPr id="35" name="Rettangolo con angoli arrotondati 34">
                      <a:extLst>
                        <a:ext uri="{FF2B5EF4-FFF2-40B4-BE49-F238E27FC236}">
                          <a16:creationId xmlns:a16="http://schemas.microsoft.com/office/drawing/2014/main" id="{E46752B5-2168-8D82-CB42-17D6B5A2717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1068519" y="30353244"/>
                      <a:ext cx="1541674" cy="1256797"/>
                    </a:xfrm>
                    <a:prstGeom prst="roundRect">
                      <a:avLst/>
                    </a:prstGeom>
                    <a:blipFill>
                      <a:blip r:embed="rId8"/>
                      <a:stretch>
                        <a:fillRect b="-2210"/>
                      </a:stretch>
                    </a:blipFill>
                    <a:ln w="381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6" name="Rettangolo con angoli arrotondati 35">
                      <a:extLst>
                        <a:ext uri="{FF2B5EF4-FFF2-40B4-BE49-F238E27FC236}">
                          <a16:creationId xmlns:a16="http://schemas.microsoft.com/office/drawing/2014/main" id="{B3FBFB5E-E76D-E98D-E743-A62294D76B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9681" y="30353244"/>
                      <a:ext cx="1571625" cy="1256797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k-</a:t>
                      </a:r>
                      <a14:m>
                        <m:oMath xmlns:m="http://schemas.openxmlformats.org/officeDocument/2006/math">
                          <m:r>
                            <a:rPr lang="en-GB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oMath>
                      </a14:m>
                      <a:r>
                        <a:rPr lang="en-GB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calculation </a:t>
                      </a:r>
                    </a:p>
                  </p:txBody>
                </p:sp>
              </mc:Choice>
              <mc:Fallback>
                <p:sp>
                  <p:nvSpPr>
                    <p:cNvPr id="36" name="Rettangolo con angoli arrotondati 35">
                      <a:extLst>
                        <a:ext uri="{FF2B5EF4-FFF2-40B4-BE49-F238E27FC236}">
                          <a16:creationId xmlns:a16="http://schemas.microsoft.com/office/drawing/2014/main" id="{B3FBFB5E-E76D-E98D-E743-A62294D76BD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9681" y="30353244"/>
                      <a:ext cx="1571625" cy="1256797"/>
                    </a:xfrm>
                    <a:prstGeom prst="roundRect">
                      <a:avLst/>
                    </a:prstGeom>
                    <a:blipFill>
                      <a:blip r:embed="rId9"/>
                      <a:stretch>
                        <a:fillRect b="-1105"/>
                      </a:stretch>
                    </a:blipFill>
                    <a:ln w="381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7" name="Rettangolo con angoli arrotondati 36">
                      <a:extLst>
                        <a:ext uri="{FF2B5EF4-FFF2-40B4-BE49-F238E27FC236}">
                          <a16:creationId xmlns:a16="http://schemas.microsoft.com/office/drawing/2014/main" id="{C761DF64-903A-A665-C1EE-EF9D00BE9C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317834" y="30353244"/>
                      <a:ext cx="1571625" cy="1256797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r>
                        <a:rPr lang="en-GB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standard calculation</a:t>
                      </a:r>
                    </a:p>
                  </p:txBody>
                </p:sp>
              </mc:Choice>
              <mc:Fallback>
                <p:sp>
                  <p:nvSpPr>
                    <p:cNvPr id="37" name="Rettangolo con angoli arrotondati 36">
                      <a:extLst>
                        <a:ext uri="{FF2B5EF4-FFF2-40B4-BE49-F238E27FC236}">
                          <a16:creationId xmlns:a16="http://schemas.microsoft.com/office/drawing/2014/main" id="{C761DF64-903A-A665-C1EE-EF9D00BE9C8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317834" y="30353244"/>
                      <a:ext cx="1571625" cy="1256797"/>
                    </a:xfrm>
                    <a:prstGeom prst="roundRect">
                      <a:avLst/>
                    </a:prstGeom>
                    <a:blipFill>
                      <a:blip r:embed="rId10"/>
                      <a:stretch>
                        <a:fillRect b="-13260"/>
                      </a:stretch>
                    </a:blipFill>
                    <a:ln w="38100">
                      <a:solidFill>
                        <a:schemeClr val="tx1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38" name="Rettangolo con angoli arrotondati 37">
                      <a:extLst>
                        <a:ext uri="{FF2B5EF4-FFF2-40B4-BE49-F238E27FC236}">
                          <a16:creationId xmlns:a16="http://schemas.microsoft.com/office/drawing/2014/main" id="{BD9383CE-9AC2-182E-9175-5BD8A09AD3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416610" y="29430210"/>
                      <a:ext cx="1571625" cy="816513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GB" b="0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Back-</a:t>
                      </a:r>
                      <a:r>
                        <a:rPr lang="en-GB" noProof="0" dirty="0">
                          <a:solidFill>
                            <a:schemeClr val="tx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up of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en-GB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oMath>
                      </a14:m>
                      <a:endParaRPr lang="en-GB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38" name="Rettangolo con angoli arrotondati 37">
                      <a:extLst>
                        <a:ext uri="{FF2B5EF4-FFF2-40B4-BE49-F238E27FC236}">
                          <a16:creationId xmlns:a16="http://schemas.microsoft.com/office/drawing/2014/main" id="{BD9383CE-9AC2-182E-9175-5BD8A09AD39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16610" y="29430210"/>
                      <a:ext cx="1571625" cy="816513"/>
                    </a:xfrm>
                    <a:prstGeom prst="roundRect">
                      <a:avLst/>
                    </a:prstGeom>
                    <a:blipFill>
                      <a:blip r:embed="rId11"/>
                      <a:stretch>
                        <a:fillRect b="-8333"/>
                      </a:stretch>
                    </a:blipFill>
                    <a:ln w="38100"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9" name="Rettangolo con angoli arrotondati 38">
                  <a:extLst>
                    <a:ext uri="{FF2B5EF4-FFF2-40B4-BE49-F238E27FC236}">
                      <a16:creationId xmlns:a16="http://schemas.microsoft.com/office/drawing/2014/main" id="{CA51FB83-1C89-7A17-8E27-E76B16559CC1}"/>
                    </a:ext>
                  </a:extLst>
                </p:cNvPr>
                <p:cNvSpPr/>
                <p:nvPr/>
              </p:nvSpPr>
              <p:spPr>
                <a:xfrm>
                  <a:off x="4580611" y="30353244"/>
                  <a:ext cx="1571625" cy="1256797"/>
                </a:xfrm>
                <a:prstGeom prst="roundRect">
                  <a:avLst/>
                </a:prstGeom>
                <a:noFill/>
                <a:ln w="38100">
                  <a:solidFill>
                    <a:schemeClr val="accent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Clustering analysis</a:t>
                  </a:r>
                </a:p>
              </p:txBody>
            </p:sp>
            <p:sp>
              <p:nvSpPr>
                <p:cNvPr id="40" name="Rettangolo con angoli arrotondati 39">
                  <a:extLst>
                    <a:ext uri="{FF2B5EF4-FFF2-40B4-BE49-F238E27FC236}">
                      <a16:creationId xmlns:a16="http://schemas.microsoft.com/office/drawing/2014/main" id="{812DD6E5-ED6B-C92A-9407-0A87E4CF3D6A}"/>
                    </a:ext>
                  </a:extLst>
                </p:cNvPr>
                <p:cNvSpPr/>
                <p:nvPr/>
              </p:nvSpPr>
              <p:spPr>
                <a:xfrm>
                  <a:off x="6293600" y="30353243"/>
                  <a:ext cx="1571625" cy="1256797"/>
                </a:xfrm>
                <a:prstGeom prst="roundRect">
                  <a:avLst/>
                </a:prstGeom>
                <a:noFill/>
                <a:ln w="38100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MLP regression </a:t>
                  </a: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1" name="Rettangolo con angoli arrotondati 40">
                      <a:extLst>
                        <a:ext uri="{FF2B5EF4-FFF2-40B4-BE49-F238E27FC236}">
                          <a16:creationId xmlns:a16="http://schemas.microsoft.com/office/drawing/2014/main" id="{9575A8BC-68BA-2BF5-A067-A6C2EAB2A1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08350" y="30353243"/>
                      <a:ext cx="717627" cy="1256797"/>
                    </a:xfrm>
                    <a:prstGeom prst="roundRect">
                      <a:avLst/>
                    </a:prstGeom>
                    <a:noFill/>
                    <a:ln w="38100">
                      <a:solidFill>
                        <a:srgbClr val="0070C0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GB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GB" b="0" i="1" noProof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𝑀𝐿</m:t>
                                    </m:r>
                                  </m:sub>
                                </m:sSub>
                              </m:sub>
                            </m:sSub>
                          </m:oMath>
                        </m:oMathPara>
                      </a14:m>
                      <a:endParaRPr lang="en-GB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p:txBody>
                </p:sp>
              </mc:Choice>
              <mc:Fallback>
                <p:sp>
                  <p:nvSpPr>
                    <p:cNvPr id="41" name="Rettangolo con angoli arrotondati 40">
                      <a:extLst>
                        <a:ext uri="{FF2B5EF4-FFF2-40B4-BE49-F238E27FC236}">
                          <a16:creationId xmlns:a16="http://schemas.microsoft.com/office/drawing/2014/main" id="{9575A8BC-68BA-2BF5-A067-A6C2EAB2A1E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008350" y="30353243"/>
                      <a:ext cx="717627" cy="1256797"/>
                    </a:xfrm>
                    <a:prstGeom prst="round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 w="38100">
                      <a:solidFill>
                        <a:srgbClr val="0070C0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2" name="Rettangolo con angoli arrotondati 41">
                  <a:extLst>
                    <a:ext uri="{FF2B5EF4-FFF2-40B4-BE49-F238E27FC236}">
                      <a16:creationId xmlns:a16="http://schemas.microsoft.com/office/drawing/2014/main" id="{7C9C02A8-1CD0-BFB3-EF20-30738BD02C02}"/>
                    </a:ext>
                  </a:extLst>
                </p:cNvPr>
                <p:cNvSpPr/>
                <p:nvPr/>
              </p:nvSpPr>
              <p:spPr>
                <a:xfrm>
                  <a:off x="-1139098" y="29383459"/>
                  <a:ext cx="9953219" cy="3380465"/>
                </a:xfrm>
                <a:prstGeom prst="roundRect">
                  <a:avLst/>
                </a:prstGeom>
                <a:noFill/>
                <a:ln w="38100">
                  <a:solidFill>
                    <a:schemeClr val="tx1"/>
                  </a:solidFill>
                  <a:prstDash val="dashDot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E29E85E6-05C1-E5F7-9E15-ED4EB68A12E5}"/>
                  </a:ext>
                </a:extLst>
              </p:cNvPr>
              <p:cNvSpPr txBox="1"/>
              <p:nvPr/>
            </p:nvSpPr>
            <p:spPr>
              <a:xfrm>
                <a:off x="4133571" y="31680851"/>
                <a:ext cx="3831771" cy="4389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Iteration </a:t>
                </a:r>
                <a:r>
                  <a:rPr lang="en-GB" i="1" noProof="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</a:t>
                </a:r>
                <a:endParaRPr lang="en-GB" i="1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" name="CasellaDiTesto 17">
                <a:extLst>
                  <a:ext uri="{FF2B5EF4-FFF2-40B4-BE49-F238E27FC236}">
                    <a16:creationId xmlns:a16="http://schemas.microsoft.com/office/drawing/2014/main" id="{DC421C6E-E2E8-8CD4-0A7C-8EE6E7E3F968}"/>
                  </a:ext>
                </a:extLst>
              </p:cNvPr>
              <p:cNvSpPr txBox="1"/>
              <p:nvPr/>
            </p:nvSpPr>
            <p:spPr>
              <a:xfrm>
                <a:off x="14468999" y="32715246"/>
                <a:ext cx="3831771" cy="438997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Iteration </a:t>
                </a:r>
                <a:r>
                  <a:rPr lang="en-GB" i="1" noProof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i+1</a:t>
                </a:r>
                <a:endParaRPr lang="en-GB" noProof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cxnSp>
            <p:nvCxnSpPr>
              <p:cNvPr id="19" name="Connettore 2 18">
                <a:extLst>
                  <a:ext uri="{FF2B5EF4-FFF2-40B4-BE49-F238E27FC236}">
                    <a16:creationId xmlns:a16="http://schemas.microsoft.com/office/drawing/2014/main" id="{40580DCE-33E5-930B-A9A0-FC14ED6A7EBD}"/>
                  </a:ext>
                </a:extLst>
              </p:cNvPr>
              <p:cNvCxnSpPr>
                <a:cxnSpLocks/>
                <a:stCxn id="43" idx="3"/>
                <a:endCxn id="44" idx="1"/>
              </p:cNvCxnSpPr>
              <p:nvPr/>
            </p:nvCxnSpPr>
            <p:spPr>
              <a:xfrm>
                <a:off x="2238660" y="30914770"/>
                <a:ext cx="136527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Connettore 2 19">
                <a:extLst>
                  <a:ext uri="{FF2B5EF4-FFF2-40B4-BE49-F238E27FC236}">
                    <a16:creationId xmlns:a16="http://schemas.microsoft.com/office/drawing/2014/main" id="{0394D13C-203E-FBBB-EE53-0A5D711DA035}"/>
                  </a:ext>
                </a:extLst>
              </p:cNvPr>
              <p:cNvCxnSpPr>
                <a:cxnSpLocks/>
                <a:stCxn id="44" idx="3"/>
                <a:endCxn id="45" idx="1"/>
              </p:cNvCxnSpPr>
              <p:nvPr/>
            </p:nvCxnSpPr>
            <p:spPr>
              <a:xfrm>
                <a:off x="3946811" y="30914770"/>
                <a:ext cx="13652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Connettore 2 20">
                <a:extLst>
                  <a:ext uri="{FF2B5EF4-FFF2-40B4-BE49-F238E27FC236}">
                    <a16:creationId xmlns:a16="http://schemas.microsoft.com/office/drawing/2014/main" id="{8BD309DA-47F2-0099-C8D7-A7E618A89B0F}"/>
                  </a:ext>
                </a:extLst>
              </p:cNvPr>
              <p:cNvCxnSpPr>
                <a:cxnSpLocks/>
                <a:stCxn id="45" idx="3"/>
                <a:endCxn id="47" idx="1"/>
              </p:cNvCxnSpPr>
              <p:nvPr/>
            </p:nvCxnSpPr>
            <p:spPr>
              <a:xfrm>
                <a:off x="5654966" y="30914770"/>
                <a:ext cx="855507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Connettore 2 21">
                <a:extLst>
                  <a:ext uri="{FF2B5EF4-FFF2-40B4-BE49-F238E27FC236}">
                    <a16:creationId xmlns:a16="http://schemas.microsoft.com/office/drawing/2014/main" id="{A15D49D6-9B95-CDC4-058B-48E84B4CFAF4}"/>
                  </a:ext>
                </a:extLst>
              </p:cNvPr>
              <p:cNvCxnSpPr>
                <a:cxnSpLocks/>
                <a:stCxn id="47" idx="3"/>
                <a:endCxn id="48" idx="1"/>
              </p:cNvCxnSpPr>
              <p:nvPr/>
            </p:nvCxnSpPr>
            <p:spPr>
              <a:xfrm flipV="1">
                <a:off x="8082098" y="30914768"/>
                <a:ext cx="141364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Connettore 2 22">
                <a:extLst>
                  <a:ext uri="{FF2B5EF4-FFF2-40B4-BE49-F238E27FC236}">
                    <a16:creationId xmlns:a16="http://schemas.microsoft.com/office/drawing/2014/main" id="{915CC468-F3BB-218C-E924-DDCC978D6505}"/>
                  </a:ext>
                </a:extLst>
              </p:cNvPr>
              <p:cNvCxnSpPr>
                <a:cxnSpLocks/>
                <a:stCxn id="48" idx="3"/>
                <a:endCxn id="49" idx="1"/>
              </p:cNvCxnSpPr>
              <p:nvPr/>
            </p:nvCxnSpPr>
            <p:spPr>
              <a:xfrm>
                <a:off x="9795088" y="30914768"/>
                <a:ext cx="14312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Rettangolo con angoli arrotondati 23">
                    <a:extLst>
                      <a:ext uri="{FF2B5EF4-FFF2-40B4-BE49-F238E27FC236}">
                        <a16:creationId xmlns:a16="http://schemas.microsoft.com/office/drawing/2014/main" id="{2229D701-AA52-BD0E-2B02-2E1FE994ADD5}"/>
                      </a:ext>
                    </a:extLst>
                  </p:cNvPr>
                  <p:cNvSpPr/>
                  <p:nvPr/>
                </p:nvSpPr>
                <p:spPr>
                  <a:xfrm>
                    <a:off x="11938173" y="31640889"/>
                    <a:ext cx="1571627" cy="973028"/>
                  </a:xfrm>
                  <a:prstGeom prst="roundRect">
                    <a:avLst/>
                  </a:prstGeom>
                  <a:noFill/>
                  <a:ln w="38100">
                    <a:solidFill>
                      <a:schemeClr val="bg2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GB" b="0" noProof="0" dirty="0">
                        <a:solidFill>
                          <a:schemeClr val="tx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Discharge of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GB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noProof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GB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GB" b="0" i="1" noProof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𝑀𝐿</m:t>
                                </m:r>
                              </m:sub>
                            </m:sSub>
                          </m:sub>
                        </m:sSub>
                      </m:oMath>
                    </a14:m>
                    <a:endParaRPr lang="en-GB" noProof="0" dirty="0">
                      <a:solidFill>
                        <a:schemeClr val="tx1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mc:Choice>
            <mc:Fallback>
              <p:sp>
                <p:nvSpPr>
                  <p:cNvPr id="24" name="Rettangolo con angoli arrotondati 23">
                    <a:extLst>
                      <a:ext uri="{FF2B5EF4-FFF2-40B4-BE49-F238E27FC236}">
                        <a16:creationId xmlns:a16="http://schemas.microsoft.com/office/drawing/2014/main" id="{2229D701-AA52-BD0E-2B02-2E1FE994AD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38173" y="31640889"/>
                    <a:ext cx="1571627" cy="973028"/>
                  </a:xfrm>
                  <a:prstGeom prst="roundRect">
                    <a:avLst/>
                  </a:prstGeom>
                  <a:blipFill>
                    <a:blip r:embed="rId13"/>
                    <a:stretch>
                      <a:fillRect r="-444"/>
                    </a:stretch>
                  </a:blipFill>
                  <a:ln w="38100">
                    <a:solidFill>
                      <a:schemeClr val="bg2">
                        <a:lumMod val="7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Connettore 2 24">
                <a:extLst>
                  <a:ext uri="{FF2B5EF4-FFF2-40B4-BE49-F238E27FC236}">
                    <a16:creationId xmlns:a16="http://schemas.microsoft.com/office/drawing/2014/main" id="{843B9F8B-A8BE-DD3F-8D18-8C84770AC2D1}"/>
                  </a:ext>
                </a:extLst>
              </p:cNvPr>
              <p:cNvCxnSpPr>
                <a:cxnSpLocks/>
                <a:endCxn id="46" idx="2"/>
              </p:cNvCxnSpPr>
              <p:nvPr/>
            </p:nvCxnSpPr>
            <p:spPr>
              <a:xfrm flipV="1">
                <a:off x="6049458" y="30198044"/>
                <a:ext cx="0" cy="68869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Connettore 2 25">
                <a:extLst>
                  <a:ext uri="{FF2B5EF4-FFF2-40B4-BE49-F238E27FC236}">
                    <a16:creationId xmlns:a16="http://schemas.microsoft.com/office/drawing/2014/main" id="{968C5663-17C8-817B-4509-0A35C3A3C159}"/>
                  </a:ext>
                </a:extLst>
              </p:cNvPr>
              <p:cNvCxnSpPr>
                <a:cxnSpLocks/>
                <a:stCxn id="49" idx="3"/>
                <a:endCxn id="35" idx="1"/>
              </p:cNvCxnSpPr>
              <p:nvPr/>
            </p:nvCxnSpPr>
            <p:spPr>
              <a:xfrm>
                <a:off x="10663496" y="30914768"/>
                <a:ext cx="450448" cy="18196"/>
              </a:xfrm>
              <a:prstGeom prst="straightConnector1">
                <a:avLst/>
              </a:prstGeom>
              <a:ln w="38100">
                <a:prstDash val="dash"/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Connettore 2 26">
                <a:extLst>
                  <a:ext uri="{FF2B5EF4-FFF2-40B4-BE49-F238E27FC236}">
                    <a16:creationId xmlns:a16="http://schemas.microsoft.com/office/drawing/2014/main" id="{C99592F1-4127-1A70-3DC7-38A4C91EA35B}"/>
                  </a:ext>
                </a:extLst>
              </p:cNvPr>
              <p:cNvCxnSpPr>
                <a:cxnSpLocks/>
                <a:stCxn id="35" idx="3"/>
                <a:endCxn id="36" idx="1"/>
              </p:cNvCxnSpPr>
              <p:nvPr/>
            </p:nvCxnSpPr>
            <p:spPr>
              <a:xfrm>
                <a:off x="12655618" y="30932965"/>
                <a:ext cx="136527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Connettore 2 27">
                <a:extLst>
                  <a:ext uri="{FF2B5EF4-FFF2-40B4-BE49-F238E27FC236}">
                    <a16:creationId xmlns:a16="http://schemas.microsoft.com/office/drawing/2014/main" id="{AD114CB1-A5A6-A762-D454-1389C5A3E358}"/>
                  </a:ext>
                </a:extLst>
              </p:cNvPr>
              <p:cNvCxnSpPr>
                <a:cxnSpLocks/>
                <a:stCxn id="36" idx="3"/>
                <a:endCxn id="37" idx="1"/>
              </p:cNvCxnSpPr>
              <p:nvPr/>
            </p:nvCxnSpPr>
            <p:spPr>
              <a:xfrm>
                <a:off x="14363769" y="30932965"/>
                <a:ext cx="136528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Connettore 2 28">
                <a:extLst>
                  <a:ext uri="{FF2B5EF4-FFF2-40B4-BE49-F238E27FC236}">
                    <a16:creationId xmlns:a16="http://schemas.microsoft.com/office/drawing/2014/main" id="{B89D8318-8B63-6E46-A8AE-7B29F95D30E2}"/>
                  </a:ext>
                </a:extLst>
              </p:cNvPr>
              <p:cNvCxnSpPr>
                <a:cxnSpLocks/>
                <a:stCxn id="37" idx="3"/>
                <a:endCxn id="39" idx="1"/>
              </p:cNvCxnSpPr>
              <p:nvPr/>
            </p:nvCxnSpPr>
            <p:spPr>
              <a:xfrm>
                <a:off x="16071921" y="30932965"/>
                <a:ext cx="691152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Connettore 2 29">
                <a:extLst>
                  <a:ext uri="{FF2B5EF4-FFF2-40B4-BE49-F238E27FC236}">
                    <a16:creationId xmlns:a16="http://schemas.microsoft.com/office/drawing/2014/main" id="{EB2DB481-FBD5-68DD-5E20-756CEE90BFB1}"/>
                  </a:ext>
                </a:extLst>
              </p:cNvPr>
              <p:cNvCxnSpPr>
                <a:cxnSpLocks/>
                <a:stCxn id="39" idx="3"/>
                <a:endCxn id="40" idx="1"/>
              </p:cNvCxnSpPr>
              <p:nvPr/>
            </p:nvCxnSpPr>
            <p:spPr>
              <a:xfrm flipV="1">
                <a:off x="18334699" y="30932964"/>
                <a:ext cx="141365" cy="1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Connettore 2 30">
                <a:extLst>
                  <a:ext uri="{FF2B5EF4-FFF2-40B4-BE49-F238E27FC236}">
                    <a16:creationId xmlns:a16="http://schemas.microsoft.com/office/drawing/2014/main" id="{9AEA3993-C12F-68C2-2367-50BA890850EC}"/>
                  </a:ext>
                </a:extLst>
              </p:cNvPr>
              <p:cNvCxnSpPr>
                <a:cxnSpLocks/>
                <a:stCxn id="40" idx="3"/>
                <a:endCxn id="41" idx="1"/>
              </p:cNvCxnSpPr>
              <p:nvPr/>
            </p:nvCxnSpPr>
            <p:spPr>
              <a:xfrm>
                <a:off x="20047688" y="30932964"/>
                <a:ext cx="143125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Connettore a gomito 31">
                <a:extLst>
                  <a:ext uri="{FF2B5EF4-FFF2-40B4-BE49-F238E27FC236}">
                    <a16:creationId xmlns:a16="http://schemas.microsoft.com/office/drawing/2014/main" id="{3B36A7B1-DB45-7992-DDE8-3E95036D21EA}"/>
                  </a:ext>
                </a:extLst>
              </p:cNvPr>
              <p:cNvCxnSpPr>
                <a:cxnSpLocks/>
                <a:stCxn id="46" idx="3"/>
                <a:endCxn id="36" idx="0"/>
              </p:cNvCxnSpPr>
              <p:nvPr/>
            </p:nvCxnSpPr>
            <p:spPr>
              <a:xfrm>
                <a:off x="6835271" y="29811869"/>
                <a:ext cx="6742686" cy="492697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nettore 2 32">
                <a:extLst>
                  <a:ext uri="{FF2B5EF4-FFF2-40B4-BE49-F238E27FC236}">
                    <a16:creationId xmlns:a16="http://schemas.microsoft.com/office/drawing/2014/main" id="{BE8F9A38-9097-3CA6-D553-4C1E7AC1F33E}"/>
                  </a:ext>
                </a:extLst>
              </p:cNvPr>
              <p:cNvCxnSpPr>
                <a:cxnSpLocks/>
                <a:endCxn id="24" idx="0"/>
              </p:cNvCxnSpPr>
              <p:nvPr/>
            </p:nvCxnSpPr>
            <p:spPr>
              <a:xfrm>
                <a:off x="12723986" y="30932964"/>
                <a:ext cx="0" cy="707925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prstDash val="solid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nettore 2 33">
                <a:extLst>
                  <a:ext uri="{FF2B5EF4-FFF2-40B4-BE49-F238E27FC236}">
                    <a16:creationId xmlns:a16="http://schemas.microsoft.com/office/drawing/2014/main" id="{E3A90CD2-3C6C-5FD8-6D45-05762A95A05C}"/>
                  </a:ext>
                </a:extLst>
              </p:cNvPr>
              <p:cNvCxnSpPr>
                <a:cxnSpLocks/>
                <a:endCxn id="38" idx="2"/>
              </p:cNvCxnSpPr>
              <p:nvPr/>
            </p:nvCxnSpPr>
            <p:spPr>
              <a:xfrm flipV="1">
                <a:off x="16384885" y="30198045"/>
                <a:ext cx="0" cy="734919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6" name="Connettore diritto 5">
              <a:extLst>
                <a:ext uri="{FF2B5EF4-FFF2-40B4-BE49-F238E27FC236}">
                  <a16:creationId xmlns:a16="http://schemas.microsoft.com/office/drawing/2014/main" id="{91A78404-ABE2-B87E-0411-D75077CAEF18}"/>
                </a:ext>
              </a:extLst>
            </p:cNvPr>
            <p:cNvCxnSpPr/>
            <p:nvPr/>
          </p:nvCxnSpPr>
          <p:spPr>
            <a:xfrm>
              <a:off x="787400" y="30947568"/>
              <a:ext cx="406400" cy="0"/>
            </a:xfrm>
            <a:prstGeom prst="line">
              <a:avLst/>
            </a:prstGeom>
            <a:ln w="3810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Connettore diritto 6">
              <a:extLst>
                <a:ext uri="{FF2B5EF4-FFF2-40B4-BE49-F238E27FC236}">
                  <a16:creationId xmlns:a16="http://schemas.microsoft.com/office/drawing/2014/main" id="{44F736A2-8F59-461E-B02F-EB7B106224D4}"/>
                </a:ext>
              </a:extLst>
            </p:cNvPr>
            <p:cNvCxnSpPr/>
            <p:nvPr/>
          </p:nvCxnSpPr>
          <p:spPr>
            <a:xfrm>
              <a:off x="787400" y="31163469"/>
              <a:ext cx="406400" cy="0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Connettore diritto 7">
              <a:extLst>
                <a:ext uri="{FF2B5EF4-FFF2-40B4-BE49-F238E27FC236}">
                  <a16:creationId xmlns:a16="http://schemas.microsoft.com/office/drawing/2014/main" id="{4D9FF325-E119-115B-74BD-801F069F823F}"/>
                </a:ext>
              </a:extLst>
            </p:cNvPr>
            <p:cNvCxnSpPr/>
            <p:nvPr/>
          </p:nvCxnSpPr>
          <p:spPr>
            <a:xfrm>
              <a:off x="787400" y="31392068"/>
              <a:ext cx="406400" cy="0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onnettore diritto 8">
              <a:extLst>
                <a:ext uri="{FF2B5EF4-FFF2-40B4-BE49-F238E27FC236}">
                  <a16:creationId xmlns:a16="http://schemas.microsoft.com/office/drawing/2014/main" id="{9955317B-F43F-6FCD-3C6F-D687CC4F4821}"/>
                </a:ext>
              </a:extLst>
            </p:cNvPr>
            <p:cNvCxnSpPr/>
            <p:nvPr/>
          </p:nvCxnSpPr>
          <p:spPr>
            <a:xfrm>
              <a:off x="787400" y="31620669"/>
              <a:ext cx="406400" cy="0"/>
            </a:xfrm>
            <a:prstGeom prst="line">
              <a:avLst/>
            </a:prstGeom>
            <a:ln w="381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49EC473D-80DC-4799-5498-3829FBC2018D}"/>
                </a:ext>
              </a:extLst>
            </p:cNvPr>
            <p:cNvSpPr txBox="1"/>
            <p:nvPr/>
          </p:nvSpPr>
          <p:spPr>
            <a:xfrm>
              <a:off x="1244599" y="30769766"/>
              <a:ext cx="3766612" cy="434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Standard PIMPLE solver</a:t>
              </a:r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03EF6AA2-4899-6977-AB6F-63397EB40FFA}"/>
                </a:ext>
              </a:extLst>
            </p:cNvPr>
            <p:cNvSpPr txBox="1"/>
            <p:nvPr/>
          </p:nvSpPr>
          <p:spPr>
            <a:xfrm>
              <a:off x="1244599" y="30994195"/>
              <a:ext cx="3027224" cy="438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I/O operations</a:t>
              </a:r>
            </a:p>
          </p:txBody>
        </p: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884AC4AB-0FDE-97D0-9588-D24F78346507}"/>
                </a:ext>
              </a:extLst>
            </p:cNvPr>
            <p:cNvSpPr txBox="1"/>
            <p:nvPr/>
          </p:nvSpPr>
          <p:spPr>
            <a:xfrm>
              <a:off x="1244599" y="31218445"/>
              <a:ext cx="2222499" cy="438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MLP operations</a:t>
              </a:r>
            </a:p>
          </p:txBody>
        </p: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1F86AD38-521D-5A19-CEBD-FE7CCA3F053C}"/>
                </a:ext>
              </a:extLst>
            </p:cNvPr>
            <p:cNvSpPr txBox="1"/>
            <p:nvPr/>
          </p:nvSpPr>
          <p:spPr>
            <a:xfrm>
              <a:off x="1244599" y="31451392"/>
              <a:ext cx="3106526" cy="4344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noProof="0" dirty="0">
                  <a:latin typeface="Segoe UI" panose="020B0502040204020203" pitchFamily="34" charset="0"/>
                  <a:cs typeface="Segoe UI" panose="020B0502040204020203" pitchFamily="34" charset="0"/>
                </a:rPr>
                <a:t>Clustering Operations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77471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202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Segoe UI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Carloni</dc:creator>
  <cp:lastModifiedBy>Andrea Carloni</cp:lastModifiedBy>
  <cp:revision>5</cp:revision>
  <dcterms:created xsi:type="dcterms:W3CDTF">2026-04-21T14:06:11Z</dcterms:created>
  <dcterms:modified xsi:type="dcterms:W3CDTF">2026-05-08T12:28:12Z</dcterms:modified>
</cp:coreProperties>
</file>